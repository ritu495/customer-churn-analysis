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79" r:id="rId3"/>
    <p:sldId id="280" r:id="rId4"/>
    <p:sldId id="259" r:id="rId5"/>
    <p:sldId id="260" r:id="rId6"/>
    <p:sldId id="295" r:id="rId7"/>
    <p:sldId id="261" r:id="rId8"/>
    <p:sldId id="283" r:id="rId9"/>
    <p:sldId id="285" r:id="rId10"/>
    <p:sldId id="284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</p:sldIdLst>
  <p:sldSz cx="9144000" cy="5143500" type="screen16x9"/>
  <p:notesSz cx="9144000" cy="5143500"/>
  <p:embeddedFontLst>
    <p:embeddedFont>
      <p:font typeface="Montserrat Light" panose="00000400000000000000" pitchFamily="2" charset="0"/>
      <p:regular r:id="rId22"/>
      <p:italic r:id="rId23"/>
    </p:embeddedFont>
    <p:embeddedFont>
      <p:font typeface="Montserrat-light" panose="020B0604020202020204" charset="0"/>
      <p:regular r:id="rId24"/>
    </p:embeddedFont>
    <p:embeddedFont>
      <p:font typeface="Playfair Display" panose="00000500000000000000" pitchFamily="2" charset="0"/>
      <p:regular r:id="rId25"/>
      <p:bold r:id="rId26"/>
      <p:italic r:id="rId27"/>
      <p:boldItalic r:id="rId28"/>
    </p:embeddedFont>
  </p:embeddedFontLst>
  <p:custDataLst>
    <p:tags r:id="rId29"/>
  </p:custData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C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9" d="100"/>
          <a:sy n="79" d="100"/>
        </p:scale>
        <p:origin x="114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7D66747A-9E85-4F18-A29F-478E223BC05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35C922F-CD45-4734-86FB-D8B3FCD9CC40}"/>
              </a:ext>
            </a:extLst>
          </p:cNvPr>
          <p:cNvSpPr/>
          <p:nvPr userDrawn="1"/>
        </p:nvSpPr>
        <p:spPr>
          <a:xfrm>
            <a:off x="431373" y="794138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B10C4C7D-3744-44B3-95F8-599E2C6C3A7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C9EC9EC-74BB-4189-B762-0F0FDE0AD3C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851534" y="1161606"/>
            <a:ext cx="4333783" cy="1163589"/>
          </a:xfrm>
        </p:spPr>
        <p:txBody>
          <a:bodyPr rtlCol="0" anchor="t">
            <a:noAutofit/>
          </a:bodyPr>
          <a:lstStyle>
            <a:lvl1pPr lvl="0" algn="l">
              <a:lnSpc>
                <a:spcPct val="100000"/>
              </a:lnSpc>
              <a:defRPr lang="en-US" sz="36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Subtitle 2">
            <a:extLst>
              <a:ext uri="{5607A217-3174-4624-BFFD-D8BA41E8682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5D49737-BDC9-4836-9003-EA9D753FD805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851534" y="2401395"/>
            <a:ext cx="4333783" cy="345521"/>
          </a:xfrm>
        </p:spPr>
        <p:txBody>
          <a:bodyPr rtlCol="0">
            <a:noAutofit/>
          </a:bodyPr>
          <a:lstStyle>
            <a:lvl1pPr marL="0" lvl="0" indent="0" algn="l">
              <a:buNone/>
              <a:defRPr lang="en-US" sz="2000" dirty="0">
                <a:solidFill>
                  <a:schemeClr val="tx2"/>
                </a:solidFill>
              </a:defRPr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Add Date</a:t>
            </a:r>
          </a:p>
        </p:txBody>
      </p:sp>
      <p:sp>
        <p:nvSpPr>
          <p:cNvPr id="5" name="Picture Placeholder 10">
            <a:extLst>
              <a:ext uri="{BF0BE9E0-4B38-44DA-80B0-7C60620B571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D9A7F0D-4834-45BF-92FF-57D57BD685FF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5653087" y="1076324"/>
            <a:ext cx="2862262" cy="3579018"/>
          </a:xfrm>
        </p:spPr>
        <p:txBody>
          <a:bodyPr rtlCol="0">
            <a:noAutofit/>
          </a:bodyPr>
          <a:lstStyle>
            <a:lvl1pPr marL="0" lvl="0" indent="0">
              <a:buNone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6" name="Picture Placeholder 5">
            <a:extLst>
              <a:ext uri="{BDE2DA06-19CB-4F80-B62B-2FFD777D32A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439E22B-42F8-45FD-A64D-6123EEE76D8D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51535" y="439743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ooter Placeholder 1">
            <a:extLst>
              <a:ext uri="{37BB1A09-A2A2-41AE-8DB8-2B76CB6D717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C9D360E-FA69-4E8C-A3D4-EF4AA8E78F5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8" name="Date Placeholder 1">
            <a:extLst>
              <a:ext uri="{317F849E-63FA-40F0-BB2C-1A6C482592C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D5849AB-6AA3-4494-8808-34729C0EAE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1680925D-198B-435E-A7AA-007D0E59353D}" type="datetime4">
              <a:t>December 5, 2025</a:t>
            </a:fld>
            <a:endParaRPr lang="en-US" dirty="0"/>
          </a:p>
        </p:txBody>
      </p:sp>
      <p:sp>
        <p:nvSpPr>
          <p:cNvPr id="9" name="Slide Number Placeholder 5">
            <a:extLst>
              <a:ext uri="{A915EDC1-3252-4345-89AF-7CF5E0D1B21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CD08B5-C856-4AA0-B4DB-8649683578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909573" y="4867275"/>
            <a:ext cx="2057400" cy="273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algn="r">
              <a:defRPr lang="en-US" sz="900" b="0" i="0" dirty="0">
                <a:solidFill>
                  <a:schemeClr val="tx1">
                    <a:tint val="75000"/>
                  </a:schemeClr>
                </a:solidFill>
                <a:latin typeface="Montserrat Light"/>
              </a:defRPr>
            </a:lvl1pPr>
          </a:lstStyle>
          <a:p>
            <a:fld id="{83B23648-C696-4E1A-917D-561F041933EA}" type="slidenum">
              <a:t>‹#›</a:t>
            </a:fld>
            <a:endParaRPr lang="en-US" dirty="0"/>
          </a:p>
        </p:txBody>
      </p:sp>
    </p:spTree>
    <p:extLst>
      <p:ext uri="{D756306A-0E4C-4FB4-8115-F5635779E63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2117CBA7-6AB7-4F78-B955-D21BA6E7ED2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A929380-0318-4DCA-8558-EC416ECE3F55}"/>
              </a:ext>
            </a:extLst>
          </p:cNvPr>
          <p:cNvSpPr/>
          <p:nvPr userDrawn="1"/>
        </p:nvSpPr>
        <p:spPr>
          <a:xfrm>
            <a:off x="431372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DA507732-3B95-450A-85D1-06651254370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D6C1D0A-721B-47F2-A5C5-E9FA261D3BA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Content Placeholder 2">
            <a:extLst>
              <a:ext uri="{46E4FE13-A1BC-4238-A4D8-477FE77F13F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905F343-2729-4F33-BBB4-06A1005674F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1672" y="1650380"/>
            <a:ext cx="7593677" cy="2834630"/>
          </a:xfrm>
        </p:spPr>
        <p:txBody>
          <a:bodyPr rtlCol="0">
            <a:noAutofit/>
          </a:bodyPr>
          <a:lstStyle>
            <a:lvl1pPr lvl="0">
              <a:lnSpc>
                <a:spcPct val="125000"/>
              </a:lnSpc>
              <a:defRPr lang="en-US" sz="1400" dirty="0">
                <a:solidFill>
                  <a:schemeClr val="tx2"/>
                </a:solidFill>
              </a:defRPr>
            </a:lvl1pPr>
            <a:lvl2pPr lvl="1">
              <a:lnSpc>
                <a:spcPct val="125000"/>
              </a:lnSpc>
              <a:defRPr lang="en-US" sz="1400" dirty="0">
                <a:solidFill>
                  <a:schemeClr val="tx2"/>
                </a:solidFill>
              </a:defRPr>
            </a:lvl2pPr>
            <a:lvl3pPr lvl="2">
              <a:lnSpc>
                <a:spcPct val="125000"/>
              </a:lnSpc>
              <a:defRPr lang="en-US" sz="1400" dirty="0">
                <a:solidFill>
                  <a:schemeClr val="tx2"/>
                </a:solidFill>
              </a:defRPr>
            </a:lvl3pPr>
            <a:lvl4pPr lvl="3">
              <a:lnSpc>
                <a:spcPct val="125000"/>
              </a:lnSpc>
              <a:defRPr lang="en-US" sz="1400" dirty="0">
                <a:solidFill>
                  <a:schemeClr val="tx2"/>
                </a:solidFill>
              </a:defRPr>
            </a:lvl4pPr>
            <a:lvl5pPr lvl="4">
              <a:lnSpc>
                <a:spcPct val="125000"/>
              </a:lnSpc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5C53989F-085B-4EFD-B8B0-6D19B9805E6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09996D-0F9B-4929-A4AE-A5EFF838C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583EF3D6-17F1-458D-AC68-F48DC85043E0}" type="slidenum">
              <a:t>‹#›</a:t>
            </a:fld>
            <a:endParaRPr lang="en-US" dirty="0"/>
          </a:p>
        </p:txBody>
      </p:sp>
      <p:sp>
        <p:nvSpPr>
          <p:cNvPr id="6" name="Picture Placeholder 5">
            <a:extLst>
              <a:ext uri="{C48EA570-5D0D-4295-821B-59D8B1D98E8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18322C8-BF56-42EE-9D46-B39B8581D4C9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610350" y="45624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ooter Placeholder 1">
            <a:extLst>
              <a:ext uri="{D6731ED4-A835-400C-AC4D-068CB118329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8AF4858-01E9-4280-8780-282EEE7663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8" name="Date Placeholder 1">
            <a:extLst>
              <a:ext uri="{90DE7773-262D-43E1-A142-C6A70ABEEF0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01F520E-0D9F-44AF-AC8A-0759E37C6CD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92B3787D-BD37-4550-B55B-295643D2736C}" type="datetime4">
              <a:t>December 5, 2025</a:t>
            </a:fld>
            <a:endParaRPr lang="en-US" dirty="0"/>
          </a:p>
        </p:txBody>
      </p:sp>
    </p:spTree>
    <p:extLst>
      <p:ext uri="{696DDB7B-625B-406A-AB6B-68A7EEAE2BF3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966F0863-B55A-4EA9-8CB2-EE75B8E5359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9D4A710-2FDC-48E3-A723-704E71DC3378}"/>
              </a:ext>
            </a:extLst>
          </p:cNvPr>
          <p:cNvSpPr/>
          <p:nvPr userDrawn="1"/>
        </p:nvSpPr>
        <p:spPr>
          <a:xfrm>
            <a:off x="431373" y="1373479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009116C6-DF96-4C18-9A39-29CB868AF18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3D53B2A-B24B-4D12-8A61-9771B7C50A74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851534" y="1740948"/>
            <a:ext cx="7214202" cy="514617"/>
          </a:xfrm>
        </p:spPr>
        <p:txBody>
          <a:bodyPr rtlCol="0" anchor="t">
            <a:noAutofit/>
          </a:bodyPr>
          <a:lstStyle>
            <a:lvl1pPr lvl="0" algn="l"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Subtitle 2">
            <a:extLst>
              <a:ext uri="{96332751-7CD8-409D-9A6A-DCC2E2861D3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DEF02F4-379F-4CD9-9BD0-D29109729674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851534" y="2255564"/>
            <a:ext cx="4333783" cy="736465"/>
          </a:xfrm>
        </p:spPr>
        <p:txBody>
          <a:bodyPr rtlCol="0">
            <a:noAutofit/>
          </a:bodyPr>
          <a:lstStyle>
            <a:lvl1pPr marL="0" lvl="0" indent="0" algn="l">
              <a:buNone/>
              <a:defRPr lang="en-US" sz="2000" dirty="0">
                <a:solidFill>
                  <a:schemeClr val="tx2"/>
                </a:solidFill>
              </a:defRPr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Add Subtitle</a:t>
            </a:r>
          </a:p>
        </p:txBody>
      </p:sp>
      <p:sp>
        <p:nvSpPr>
          <p:cNvPr id="5" name="Picture Placeholder 4">
            <a:extLst>
              <a:ext uri="{36F10ADF-2B5A-4359-BF34-35B90583A3C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0065F47-AFF8-4DA5-B9E4-022A1F065CFF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31377" y="451133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1">
            <a:extLst>
              <a:ext uri="{232E3CC3-3191-4A4F-A750-AE88CB19356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219738-13DF-4AB9-9150-65EEBD00805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7" name="Date Placeholder 1">
            <a:extLst>
              <a:ext uri="{D461FDA6-B4A3-4172-A8DF-98C69D084C5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97C3ACD-C89E-44CA-85CD-388C82AE907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8" name="Slide Number Placeholder 5">
            <a:extLst>
              <a:ext uri="{7BED942A-1A63-47D2-8A03-FBDE4C0FF5F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4649D5-A726-4BC3-816A-495833F9346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6909573" y="4867275"/>
            <a:ext cx="2057400" cy="273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algn="r">
              <a:defRPr lang="en-US" sz="900" b="0" i="0" dirty="0">
                <a:solidFill>
                  <a:schemeClr val="tx1">
                    <a:tint val="75000"/>
                  </a:schemeClr>
                </a:solidFill>
                <a:latin typeface="Montserrat Light"/>
              </a:defRPr>
            </a:lvl1pPr>
          </a:lstStyle>
          <a:p>
            <a:fld id="{F7116571-2997-479E-A95E-F97F8791FD77}" type="slidenum">
              <a:t>‹#›</a:t>
            </a:fld>
            <a:endParaRPr lang="en-US" dirty="0"/>
          </a:p>
        </p:txBody>
      </p:sp>
    </p:spTree>
    <p:extLst>
      <p:ext uri="{97CA1EF6-2475-4117-85BB-A7A95B059EC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0A7570E0-B172-4690-B790-629FFC2893E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0BA620A-8DB4-4315-85BA-51094FB1CBF5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E820E262-E1E9-4015-B632-E40D322ADFF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0819379-689E-4AC0-BEFB-5D8F3AEF40B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Content Placeholder 2">
            <a:extLst>
              <a:ext uri="{531DE98A-C3E7-46F6-8B64-5232F59845C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FEEC714-9777-460F-9306-45F688B78F8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1672" y="1650380"/>
            <a:ext cx="2640846" cy="2834630"/>
          </a:xfrm>
        </p:spPr>
        <p:txBody>
          <a:bodyPr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1pPr>
            <a:lvl2pPr marL="457200" lvl="1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2pPr>
            <a:lvl3pPr marL="914400" lvl="2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3pPr>
            <a:lvl4pPr marL="1371600" lvl="3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4pPr>
            <a:lvl5pPr marL="1828800" lvl="4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1F5AF465-E813-4632-848B-D7CE145B54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7DE7A25-88C2-4C94-AEF9-A12BB33FF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50B01898-CB97-4588-B8AC-3BE5CAD2900B}" type="slidenum">
              <a:t>‹#›</a:t>
            </a:fld>
            <a:endParaRPr lang="en-US" dirty="0"/>
          </a:p>
        </p:txBody>
      </p:sp>
      <p:sp>
        <p:nvSpPr>
          <p:cNvPr id="6" name="Chart Placeholder 4">
            <a:extLst>
              <a:ext uri="{72638582-2CDE-4613-AB92-A5393CE5E7A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440BB6-E5B4-435C-9FF4-FA4D704CA455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3884177" y="1650380"/>
            <a:ext cx="4631171" cy="2834630"/>
          </a:xfrm>
        </p:spPr>
        <p:txBody>
          <a:bodyPr rtlCol="0">
            <a:noAutofit/>
          </a:bodyPr>
          <a:lstStyle>
            <a:lvl1pPr marL="0" lvl="0" indent="0">
              <a:buNone/>
              <a:defRPr lang="en-US" sz="2400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Chart</a:t>
            </a:r>
          </a:p>
        </p:txBody>
      </p:sp>
      <p:sp>
        <p:nvSpPr>
          <p:cNvPr id="7" name="Picture Placeholder 6">
            <a:extLst>
              <a:ext uri="{E3736D84-3228-45D4-91A3-5884510BA90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63AB219-FAAE-4D37-AD13-EA8BA6A7207A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1">
            <a:extLst>
              <a:ext uri="{657216C0-71E8-48EA-97A0-3D4E8E1946D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B08A5F-AC7B-4505-86C9-43E0094B1C1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47A26AE6-CA22-470A-9741-52AE22E3A79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A8323CD-512A-428B-B178-172CE0A34C2A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E0D43979-0AE7-4735-8CBA-C7E43EA285AC}" type="datetime4">
              <a:t>December 5, 2025</a:t>
            </a:fld>
            <a:endParaRPr lang="en-US" dirty="0"/>
          </a:p>
        </p:txBody>
      </p:sp>
    </p:spTree>
    <p:extLst>
      <p:ext uri="{B9568503-FA0E-409E-B9FF-CFC52DF3588B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1B1E54D0-0768-424B-8B6E-9B538443E92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244FB7-2D2D-4B4E-AB3D-80A80F292609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6445035F-7DC9-4BBE-A2EC-38B9B37C8EC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D807B1D-4380-4223-9A2B-74E51D28A5F5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Content Placeholder 2">
            <a:extLst>
              <a:ext uri="{94DB6F19-8347-4D61-B661-333684B4D02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E0755E-E768-4B21-9850-6BB3BB7F218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504791" y="2148440"/>
            <a:ext cx="4010558" cy="2336577"/>
          </a:xfrm>
        </p:spPr>
        <p:txBody>
          <a:bodyPr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1pPr>
            <a:lvl2pPr marL="457200" lvl="1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2pPr>
            <a:lvl3pPr marL="914400" lvl="2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3pPr>
            <a:lvl4pPr marL="1371600" lvl="3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4pPr>
            <a:lvl5pPr marL="1828800" lvl="4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7C5E029C-F842-4EBC-B79E-D1D19C9B612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3E9B2A7-46FB-4162-9044-D208D24FD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7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25C04E57-E31C-4A37-B6E8-117AE9D65E64}" type="slidenum">
              <a:t>‹#›</a:t>
            </a:fld>
            <a:endParaRPr lang="en-US" dirty="0"/>
          </a:p>
        </p:txBody>
      </p:sp>
      <p:sp>
        <p:nvSpPr>
          <p:cNvPr id="6" name="Chart Placeholder 4">
            <a:extLst>
              <a:ext uri="{A51EAB01-6291-4925-AD10-992D370B735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5F6C9A5-9E54-461D-8B72-828C710C6171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807377" y="1650377"/>
            <a:ext cx="3477358" cy="2834630"/>
          </a:xfrm>
        </p:spPr>
        <p:txBody>
          <a:bodyPr rtlCol="0" anchor="t">
            <a:noAutofit/>
          </a:bodyPr>
          <a:lstStyle>
            <a:lvl1pPr marL="0" lvl="0" indent="0" algn="l">
              <a:buNone/>
              <a:defRPr lang="en-US" sz="2400" dirty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Chart</a:t>
            </a:r>
          </a:p>
        </p:txBody>
      </p:sp>
      <p:sp>
        <p:nvSpPr>
          <p:cNvPr id="7" name="Picture Placeholder 6">
            <a:extLst>
              <a:ext uri="{462CF7C7-E217-431A-ABAB-4970DC5FDDF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3A85FEE-991A-4B89-8BC8-B24754A923A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1">
            <a:extLst>
              <a:ext uri="{1C30378E-5FA2-4AE9-98DF-C05C665140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725A9B3-3482-4F37-808C-C723E1B13C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5BB122FC-47C9-4D9A-A8C0-5A2205F2334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7D7B127-D6DD-4536-832C-86721D785C61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85A3236B-FD9C-448B-A979-F833092EEFDE}" type="datetime4">
              <a:t>December 5, 2025</a:t>
            </a:fld>
            <a:endParaRPr lang="en-US" dirty="0"/>
          </a:p>
        </p:txBody>
      </p:sp>
    </p:spTree>
    <p:extLst>
      <p:ext uri="{5EA8DD10-044C-420B-97E3-8B969A882EB9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D7179F4A-6EDB-4825-A4F4-3B58E97A8FA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D994F41-10C0-4678-BC38-9C8F06DC203E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9">
            <a:extLst>
              <a:ext uri="{F6C86A9F-B250-4EA8-A837-4CCA318DA85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E6D5AA3-8B3F-438D-9B73-9212A628AC64}"/>
              </a:ext>
            </a:extLst>
          </p:cNvPr>
          <p:cNvSpPr/>
          <p:nvPr userDrawn="1"/>
        </p:nvSpPr>
        <p:spPr>
          <a:xfrm>
            <a:off x="734824" y="1471166"/>
            <a:ext cx="7780524" cy="29890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8F41AAA0-BBBE-4FF1-BA92-BFC769525C0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5E4D8FC-BADB-47CC-AA8C-8FEDE9AEA14E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5" name="Content Placeholder 2">
            <a:extLst>
              <a:ext uri="{E971C2FA-FC92-46C3-91FA-35FBAADF6FF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D991079-9D07-472D-B7C2-3CFD4A72C78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18949" y="1654330"/>
            <a:ext cx="7188708" cy="2625890"/>
          </a:xfrm>
        </p:spPr>
        <p:txBody>
          <a:bodyPr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200" dirty="0">
                <a:solidFill>
                  <a:schemeClr val="bg1"/>
                </a:solidFill>
              </a:defRPr>
            </a:lvl1pPr>
            <a:lvl2pPr marL="742950" lvl="1" indent="-285750">
              <a:lnSpc>
                <a:spcPct val="100000"/>
              </a:lnSpc>
              <a:buChar char="•"/>
              <a:defRPr lang="en-US" sz="1200" dirty="0">
                <a:solidFill>
                  <a:schemeClr val="bg1"/>
                </a:solidFill>
              </a:defRPr>
            </a:lvl2pPr>
            <a:lvl3pPr marL="1200150" lvl="2" indent="-285750">
              <a:lnSpc>
                <a:spcPct val="125000"/>
              </a:lnSpc>
              <a:buChar char="•"/>
              <a:defRPr lang="en-US" sz="1200" dirty="0">
                <a:solidFill>
                  <a:schemeClr val="bg1"/>
                </a:solidFill>
              </a:defRPr>
            </a:lvl3pPr>
            <a:lvl4pPr marL="1657350" lvl="3" indent="-285750">
              <a:lnSpc>
                <a:spcPct val="125000"/>
              </a:lnSpc>
              <a:buChar char="•"/>
              <a:defRPr lang="en-US" sz="1200" dirty="0">
                <a:solidFill>
                  <a:schemeClr val="bg1"/>
                </a:solidFill>
              </a:defRPr>
            </a:lvl4pPr>
            <a:lvl5pPr marL="2114550" lvl="4" indent="-285750">
              <a:lnSpc>
                <a:spcPct val="125000"/>
              </a:lnSpc>
              <a:buChar char="•"/>
              <a:defRPr lang="en-US" sz="12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B615EDF3-A05F-449E-B3DD-7A42CDA1A10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F71617E-353E-4FF1-8F3E-32769428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036CFE52-3F5D-4383-B1EC-20E009C4703B}" type="slidenum"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5BC06194-D1BA-4989-8D34-9F925D49009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F45D30B-E77F-4699-A5A3-4FEFB0C8E3AA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1">
            <a:extLst>
              <a:ext uri="{957C5B4E-48D7-4E1B-95A3-824C595633F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BADE175-DC40-4B77-9278-93386F2C1B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4602232C-01FA-41C0-B155-127C0CDC2D4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0481C47-E8A6-4140-A3E8-ED8A9723A97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D5CA07C1-EEAC-4AC3-A5FE-5A9ECC8455FE}" type="datetime4">
              <a:t>December 5, 2025</a:t>
            </a:fld>
            <a:endParaRPr lang="en-US" dirty="0"/>
          </a:p>
        </p:txBody>
      </p:sp>
    </p:spTree>
    <p:extLst>
      <p:ext uri="{64C6FCFF-BDA2-4245-B0AD-E10584436E51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C3EB95F7-35F1-478A-A50E-5BA9983E79A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EB42856-5E46-42BC-A536-1652D59C4BED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C2BDBC39-DA3E-4762-A58B-BC4590B000E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2AB13CD-9C2A-4482-BF62-1D2A9C40680A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Content Placeholder 2">
            <a:extLst>
              <a:ext uri="{37958906-F1E5-4AF4-A617-B2020ACBE3E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2712BA7-B900-4F3E-9FA3-70898FE4554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1672" y="1650380"/>
            <a:ext cx="3581545" cy="2834630"/>
          </a:xfrm>
        </p:spPr>
        <p:txBody>
          <a:bodyPr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1pPr>
            <a:lvl2pPr marL="457200" lvl="1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2pPr>
            <a:lvl3pPr marL="914400" lvl="2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3pPr>
            <a:lvl4pPr marL="1371600" lvl="3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4pPr>
            <a:lvl5pPr marL="1828800" lvl="4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752710A3-F490-49F1-A968-6F99D5CFB67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7FA8B88-EE7D-4ECC-9CBF-BC48C2CFE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B5C9D3E8-5869-47AC-8121-5897D6422D94}" type="slidenum"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0014FB1F-9AD9-4B8A-9155-0DBEAB01EA3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EB768ED-BC36-493A-B5AE-6A5C83EB1CC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933803" y="1650380"/>
            <a:ext cx="3581545" cy="2834630"/>
          </a:xfrm>
        </p:spPr>
        <p:txBody>
          <a:bodyPr rtlCol="0">
            <a:noAutofit/>
          </a:bodyPr>
          <a:lstStyle>
            <a:lvl1pPr lvl="0">
              <a:lnSpc>
                <a:spcPct val="125000"/>
              </a:lnSpc>
              <a:defRPr lang="en-US" sz="1200" dirty="0">
                <a:solidFill>
                  <a:schemeClr val="tx2"/>
                </a:solidFill>
              </a:defRPr>
            </a:lvl1pPr>
            <a:lvl2pPr lvl="1">
              <a:lnSpc>
                <a:spcPct val="125000"/>
              </a:lnSpc>
              <a:defRPr lang="en-US" sz="1200" dirty="0">
                <a:solidFill>
                  <a:schemeClr val="tx2"/>
                </a:solidFill>
              </a:defRPr>
            </a:lvl2pPr>
            <a:lvl3pPr lvl="2">
              <a:lnSpc>
                <a:spcPct val="125000"/>
              </a:lnSpc>
              <a:defRPr lang="en-US" sz="1200" dirty="0">
                <a:solidFill>
                  <a:schemeClr val="tx2"/>
                </a:solidFill>
              </a:defRPr>
            </a:lvl3pPr>
            <a:lvl4pPr lvl="3">
              <a:lnSpc>
                <a:spcPct val="125000"/>
              </a:lnSpc>
              <a:defRPr lang="en-US" sz="1200" dirty="0">
                <a:solidFill>
                  <a:schemeClr val="tx2"/>
                </a:solidFill>
              </a:defRPr>
            </a:lvl4pPr>
            <a:lvl5pPr lvl="4">
              <a:lnSpc>
                <a:spcPct val="125000"/>
              </a:lnSpc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>
            <a:extLst>
              <a:ext uri="{9D842660-08B1-4D9D-A472-4203D7007E6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FF62466-201B-4899-8F48-D660856BD556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1">
            <a:extLst>
              <a:ext uri="{20B2A00A-A44E-4335-AAB0-A44B23A90B8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2D92A05-4A67-441C-8C30-3F1A3852A38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5811EBF0-DCC3-4FCA-9DBF-00C1829486D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A2A96CA-6BE4-4C3A-B813-73E81FBDE99D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6F97A863-A044-477F-A81F-E293BDC05B89}" type="datetime4">
              <a:t>December 5, 2025</a:t>
            </a:fld>
            <a:endParaRPr lang="en-US" dirty="0"/>
          </a:p>
        </p:txBody>
      </p:sp>
    </p:spTree>
    <p:extLst>
      <p:ext uri="{F4F9962C-1BD1-42F6-8C09-C9597C3CD9B2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260EECDD-F6E4-44EE-B8FD-8B1212F5E15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6BFE8BA-DD66-49CD-ADC7-490A16FFD6D4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6D07F8ED-3DCF-413B-AF47-B00E9CB3214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62A449B-DAA9-4EFC-B7DC-14E99BC2A828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Content Placeholder 2">
            <a:extLst>
              <a:ext uri="{950EFF64-AFE1-40F9-B96A-DB5AEFB835A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F7F9A8-CCCD-44DB-A0EA-361503DEC5A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1672" y="1787063"/>
            <a:ext cx="7593675" cy="784306"/>
          </a:xfrm>
        </p:spPr>
        <p:txBody>
          <a:bodyPr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2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2"/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2"/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Slide Number Placeholder 5">
            <a:extLst>
              <a:ext uri="{71E4ED18-7C19-4A70-BE23-B7044DE7C2B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9306AA8-B617-4D29-B663-867BA8CD0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43C44D76-39F9-4FCF-BEC0-7F1C8DC3D36D}" type="slidenum"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3833D65E-D85E-473B-8A01-9B319049391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A935745-4FA0-4EAF-A087-E2C047743963}"/>
              </a:ext>
            </a:extLst>
          </p:cNvPr>
          <p:cNvSpPr/>
          <p:nvPr userDrawn="1"/>
        </p:nvSpPr>
        <p:spPr>
          <a:xfrm>
            <a:off x="921671" y="2697536"/>
            <a:ext cx="2434092" cy="134777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Rectangle 10">
            <a:extLst>
              <a:ext uri="{7D235356-51E1-411C-8868-B64622FB5D1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CE81F89-C849-4BCE-93C4-BA83FAA76AAB}"/>
              </a:ext>
            </a:extLst>
          </p:cNvPr>
          <p:cNvSpPr/>
          <p:nvPr userDrawn="1"/>
        </p:nvSpPr>
        <p:spPr>
          <a:xfrm>
            <a:off x="3501463" y="2697536"/>
            <a:ext cx="2434092" cy="1347774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11">
            <a:extLst>
              <a:ext uri="{8A0F98C0-7D51-413E-8CD4-D10ABEF41FB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190C13C-80A3-4F9D-ACB1-CCEA4985721A}"/>
              </a:ext>
            </a:extLst>
          </p:cNvPr>
          <p:cNvSpPr/>
          <p:nvPr userDrawn="1"/>
        </p:nvSpPr>
        <p:spPr>
          <a:xfrm>
            <a:off x="6081254" y="2697536"/>
            <a:ext cx="2434092" cy="134777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 Placeholder 13">
            <a:extLst>
              <a:ext uri="{7770EA05-6DBC-4197-8E38-1132402239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A685CE3-D665-485E-9B53-33928C19579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74617" y="2877098"/>
            <a:ext cx="2105552" cy="940593"/>
          </a:xfrm>
        </p:spPr>
        <p:txBody>
          <a:bodyPr rtlCol="0">
            <a:noAutofit/>
          </a:bodyPr>
          <a:lstStyle>
            <a:lvl1pPr marL="0" lvl="0" indent="0">
              <a:buNone/>
              <a:defRPr lang="en-US" sz="14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Text Placeholder 13">
            <a:extLst>
              <a:ext uri="{3742393C-8D8F-4F7C-85B5-8523AD23594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0AF9DAD-09F5-445D-8816-40D68D8E98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666092" y="2877098"/>
            <a:ext cx="2105552" cy="940593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4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1" name="Text Placeholder 13">
            <a:extLst>
              <a:ext uri="{C05D25D6-6C99-4482-A644-6AE62E1A9E3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91C7DBE-7A4A-4802-9A7A-F18764E02F87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245524" y="2877098"/>
            <a:ext cx="2105552" cy="940593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4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Picture Placeholder 11">
            <a:extLst>
              <a:ext uri="{A46601F4-DDE4-46A0-AA43-17A82DDB6DD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3E328E9-223B-49FD-9502-7E8020A8404E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1">
            <a:extLst>
              <a:ext uri="{832DCE31-48A2-4354-BEF6-392774D761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540A598-7E85-47F2-BEC3-8089BD4A17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4" name="Date Placeholder 1">
            <a:extLst>
              <a:ext uri="{67769900-EC02-4280-B75B-876A88BCE13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092F8B4-2B78-40A6-9364-3A6CF97F8547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F8E65D74-D6E6-4A84-91A9-F03EBCBD67C2}" type="datetime4">
              <a:t>December 5, 2025</a:t>
            </a:fld>
            <a:endParaRPr lang="en-US" dirty="0"/>
          </a:p>
        </p:txBody>
      </p:sp>
    </p:spTree>
    <p:extLst>
      <p:ext uri="{761B72C8-D9A5-43C5-B7E7-1C81381AD1F9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154EA19C-CA15-4559-98FD-369A1E0400E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F691A16-A45D-4A6B-9E6C-A59D06776E65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2CED6B5A-EB0B-438C-8507-E41BC37F14B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1A7CFEC-A202-4A29-B731-B5CA27C4765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Content Placeholder 2">
            <a:extLst>
              <a:ext uri="{66BB8C79-5CCE-4483-8851-8BC1DE24620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F3976ED-7A59-4A4F-8704-57F9AB586D5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39326" y="1738569"/>
            <a:ext cx="2717877" cy="2558132"/>
          </a:xfrm>
        </p:spPr>
        <p:txBody>
          <a:bodyPr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2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2"/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2"/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Slide Number Placeholder 5">
            <a:extLst>
              <a:ext uri="{9A28DB0B-4DDF-4AB0-8FB5-A51FDC8AF79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EECE21D-6AD5-4A3C-B97D-07209B15F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E1D9C40B-9D93-4269-AD7A-9552671800E3}" type="slidenum"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2336B069-4C4E-4D27-853C-36CAE02976F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59F361-BFF3-4E00-8EF6-E6A05AEC0A0C}"/>
              </a:ext>
            </a:extLst>
          </p:cNvPr>
          <p:cNvSpPr/>
          <p:nvPr userDrawn="1"/>
        </p:nvSpPr>
        <p:spPr>
          <a:xfrm>
            <a:off x="3832088" y="1633470"/>
            <a:ext cx="4685794" cy="85892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10">
            <a:extLst>
              <a:ext uri="{B47BFF4C-6921-45B5-8111-8B22D7A1EFA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CA63DB4-0CBC-462E-A993-48DFC4CE0005}"/>
              </a:ext>
            </a:extLst>
          </p:cNvPr>
          <p:cNvSpPr/>
          <p:nvPr userDrawn="1"/>
        </p:nvSpPr>
        <p:spPr>
          <a:xfrm>
            <a:off x="3832088" y="2567159"/>
            <a:ext cx="4685794" cy="8589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11">
            <a:extLst>
              <a:ext uri="{FBF53CF0-0DD8-4B52-8F86-CD9E3A43288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4917BE-25A9-447A-A724-787315B54276}"/>
              </a:ext>
            </a:extLst>
          </p:cNvPr>
          <p:cNvSpPr/>
          <p:nvPr userDrawn="1"/>
        </p:nvSpPr>
        <p:spPr>
          <a:xfrm>
            <a:off x="3821125" y="3512239"/>
            <a:ext cx="4685794" cy="85892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 Placeholder 13">
            <a:extLst>
              <a:ext uri="{FE7A9275-CAF5-4327-8EF7-F4E716C6EAE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BE655F3-3068-4474-83BF-E82FFEB48F2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032008" y="1813036"/>
            <a:ext cx="4310279" cy="476250"/>
          </a:xfrm>
        </p:spPr>
        <p:txBody>
          <a:bodyPr rtlCol="0" anchor="ctr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4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Text Placeholder 13">
            <a:extLst>
              <a:ext uri="{206B13C7-2653-4CB9-A65B-4AC1F1C5C7E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000869A-D089-4B34-AD01-D3D49F66A65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43686" y="2746724"/>
            <a:ext cx="4310279" cy="476250"/>
          </a:xfrm>
        </p:spPr>
        <p:txBody>
          <a:bodyPr rtlCol="0" anchor="ctr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4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1" name="Text Placeholder 13">
            <a:extLst>
              <a:ext uri="{3EA6C34D-5F2A-4540-9C74-B3D2D45F8C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51AFBC3-7D29-43DF-931C-256543B08EA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032370" y="3691804"/>
            <a:ext cx="4310279" cy="476250"/>
          </a:xfrm>
        </p:spPr>
        <p:txBody>
          <a:bodyPr rtlCol="0" anchor="ctr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4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Picture Placeholder 11">
            <a:extLst>
              <a:ext uri="{DFF52C87-1031-4684-A36C-47F3D0A2D56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9C20CAE-5423-40DF-B682-4F5A24FFA1DF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1">
            <a:extLst>
              <a:ext uri="{00C392F5-E23C-4A86-A47A-AF7BCC607D9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04EF757-F4FE-4819-BE38-DCB8364C677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4" name="Date Placeholder 1">
            <a:extLst>
              <a:ext uri="{F0E9F6BA-862A-48A1-8F28-E28682F7889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4E768C-65E1-4FEC-BDA0-5F72715D2D3A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3DB405AF-111C-479E-BDCC-87C52E3B8890}" type="datetime4">
              <a:t>December 5, 2025</a:t>
            </a:fld>
            <a:endParaRPr lang="en-US" dirty="0"/>
          </a:p>
        </p:txBody>
      </p:sp>
    </p:spTree>
    <p:extLst>
      <p:ext uri="{D42717CF-C320-47B3-9EAE-9CD529245558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7511DDB9-E0B3-4D03-9EE5-EE98E9B13DF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F12B2C8-3B1F-42D7-AB1F-2E3605D7E8F2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3">
            <a:extLst>
              <a:ext uri="{5E26AEB3-7104-422A-8865-B0A984E858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4D904D7-9382-4296-8A5F-F5B0F8A50004}"/>
              </a:ext>
            </a:extLst>
          </p:cNvPr>
          <p:cNvSpPr/>
          <p:nvPr userDrawn="1"/>
        </p:nvSpPr>
        <p:spPr>
          <a:xfrm>
            <a:off x="3950117" y="1657069"/>
            <a:ext cx="4565230" cy="262766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43B1B06E-35BC-4563-88DD-443432C0EF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B5188C8-1A29-4416-8DA2-960E1789334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5" name="Content Placeholder 2">
            <a:extLst>
              <a:ext uri="{C2EE6916-07B7-4AAF-9CF3-DE8995C8971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8D048C3-F255-4094-AE26-B4833056F69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1673" y="1905674"/>
            <a:ext cx="2810778" cy="2518646"/>
          </a:xfrm>
        </p:spPr>
        <p:txBody>
          <a:bodyPr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1pPr>
            <a:lvl2pPr marL="457200" lvl="1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2pPr>
            <a:lvl3pPr marL="914400" lvl="2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3pPr>
            <a:lvl4pPr marL="1371600" lvl="3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4pPr>
            <a:lvl5pPr marL="1828800" lvl="4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9CFDFBFB-AA2E-4934-8BF9-8E158CA8CCE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CA481B7-062F-49A5-8B28-99C5740AA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3FD8A36F-A420-404C-AF31-754B933625A0}" type="slidenum"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427A0229-848E-49A0-BC70-83FEB4F59A8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E5CF838-8F9C-4FE6-BEAE-DE2B153F7D9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22752" y="1905674"/>
            <a:ext cx="3999575" cy="2160573"/>
          </a:xfrm>
        </p:spPr>
        <p:txBody>
          <a:bodyPr rtlCol="0">
            <a:noAutofit/>
          </a:bodyPr>
          <a:lstStyle>
            <a:lvl1pPr marL="342900" lvl="0" indent="-342900">
              <a:lnSpc>
                <a:spcPct val="100000"/>
              </a:lnSpc>
              <a:buChar char="•"/>
              <a:defRPr lang="en-US" sz="1400" dirty="0">
                <a:solidFill>
                  <a:schemeClr val="bg1"/>
                </a:solidFill>
              </a:defRPr>
            </a:lvl1pPr>
            <a:lvl2pPr marL="742950" lvl="1" indent="-285750">
              <a:lnSpc>
                <a:spcPct val="100000"/>
              </a:lnSpc>
              <a:buChar char="•"/>
              <a:defRPr lang="en-US" sz="1400" dirty="0">
                <a:solidFill>
                  <a:schemeClr val="bg1"/>
                </a:solidFill>
              </a:defRPr>
            </a:lvl2pPr>
            <a:lvl3pPr marL="1143000" lvl="2" indent="-228600">
              <a:lnSpc>
                <a:spcPct val="100000"/>
              </a:lnSpc>
              <a:buChar char="•"/>
              <a:defRPr lang="en-US" sz="1400" dirty="0">
                <a:solidFill>
                  <a:schemeClr val="bg1"/>
                </a:solidFill>
              </a:defRPr>
            </a:lvl3pPr>
            <a:lvl4pPr marL="1600200" lvl="3" indent="-228600">
              <a:lnSpc>
                <a:spcPct val="100000"/>
              </a:lnSpc>
              <a:buChar char="•"/>
              <a:defRPr lang="en-US" sz="1400" dirty="0">
                <a:solidFill>
                  <a:schemeClr val="bg1"/>
                </a:solidFill>
              </a:defRPr>
            </a:lvl4pPr>
            <a:lvl5pPr marL="2057400" lvl="4" indent="-228600">
              <a:lnSpc>
                <a:spcPct val="100000"/>
              </a:lnSpc>
              <a:buChar char="•"/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B522A40D-7DE7-4D3D-8923-FAAC7DF85C6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FB1E743-E12E-4724-A06E-6C8DFF13A512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1">
            <a:extLst>
              <a:ext uri="{813BC616-0816-4FA2-939B-E5A428DBD2F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8DDC591-0317-4510-9429-A59071520DC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0" name="Date Placeholder 1">
            <a:extLst>
              <a:ext uri="{6147C3ED-5E83-42D2-A8BC-7C70ABDD570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E0A8461-80D1-4CCF-8BCA-E999F5CC75B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D34C3B63-FF6B-4929-AF94-494037E5C918}" type="datetime4">
              <a:t>December 5, 2025</a:t>
            </a:fld>
            <a:endParaRPr lang="en-US" dirty="0"/>
          </a:p>
        </p:txBody>
      </p:sp>
    </p:spTree>
    <p:extLst>
      <p:ext uri="{6D6C02D1-76C4-4668-BB9F-F59591B45E8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E4AD4A6D-8202-430A-849E-06A9FF57E4A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FC469E6-18F7-4F6B-AB82-D289E16EF555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AA299A41-1732-4440-A94C-EA72CF61B36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9A747A5-1310-4E2B-A0C6-F955EAB6DA5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Content Placeholder 2">
            <a:extLst>
              <a:ext uri="{72ADCFCB-D09C-4B98-A0D1-DAAC7ECB01D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A5C3D82-DFA0-481F-AD23-30F181D9E76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32916" y="1655787"/>
            <a:ext cx="7593675" cy="666320"/>
          </a:xfrm>
        </p:spPr>
        <p:txBody>
          <a:bodyPr rtlCol="0">
            <a:noAutofit/>
          </a:bodyPr>
          <a:lstStyle>
            <a:lvl1pPr marL="0" lvl="0" indent="0">
              <a:lnSpc>
                <a:spcPct val="125000"/>
              </a:lnSpc>
              <a:buNone/>
              <a:defRPr lang="en-US" sz="14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2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2"/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2"/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Slide Number Placeholder 5">
            <a:extLst>
              <a:ext uri="{6B5F4E57-C426-4D2A-A9A0-3E003FC8477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5908ABF-CF22-4A95-81F7-00A73B178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7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1B133029-AC0F-4364-BC68-CC0D27AA8A46}" type="slidenum"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52F723A6-D5C9-4BEE-BDC9-DDEFEE02D47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57125E5-F168-4896-B4F3-1B8FC4456F2A}"/>
              </a:ext>
            </a:extLst>
          </p:cNvPr>
          <p:cNvSpPr/>
          <p:nvPr userDrawn="1"/>
        </p:nvSpPr>
        <p:spPr>
          <a:xfrm flipV="1">
            <a:off x="921673" y="3281221"/>
            <a:ext cx="7593675" cy="4395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ext Placeholder 13">
            <a:extLst>
              <a:ext uri="{E97B25DE-29CE-418F-B6FC-D73FEFF06CA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1B90FE2-32AF-4B1E-B969-EB3E3BB9D8E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932916" y="3396957"/>
            <a:ext cx="1930769" cy="991476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2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13">
            <a:extLst>
              <a:ext uri="{7B984887-5D7C-4B5F-8132-B0DB48E05A5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55EA5BC-C028-4EB0-94E1-6F44321CDE4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32916" y="2816628"/>
            <a:ext cx="1263176" cy="343780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800" b="0" dirty="0">
                <a:solidFill>
                  <a:schemeClr val="accent3"/>
                </a:solidFill>
                <a:latin typeface="Playfair Display"/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Date</a:t>
            </a:r>
          </a:p>
        </p:txBody>
      </p:sp>
      <p:sp>
        <p:nvSpPr>
          <p:cNvPr id="9" name="Text Placeholder 13">
            <a:extLst>
              <a:ext uri="{9A0AA033-B703-4F37-93C5-A3F3558BACD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45BB1AA-B483-4937-83B0-445384FC2740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566874" y="3396957"/>
            <a:ext cx="1930769" cy="991476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2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Text Placeholder 13">
            <a:extLst>
              <a:ext uri="{65075BDE-743B-4FFF-A644-F252403E97D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05CDA9D-C415-4860-BCC8-0E186D09D88B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3566874" y="2816628"/>
            <a:ext cx="1263176" cy="343780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800" b="0" dirty="0">
                <a:solidFill>
                  <a:schemeClr val="accent3"/>
                </a:solidFill>
                <a:latin typeface="Playfair Display"/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Date</a:t>
            </a:r>
          </a:p>
        </p:txBody>
      </p:sp>
      <p:sp>
        <p:nvSpPr>
          <p:cNvPr id="11" name="Text Placeholder 13">
            <a:extLst>
              <a:ext uri="{E1BBB627-F48E-4258-AAC8-E8185187C89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F63B3A7-43A7-4A1C-9A4A-7738A33C31B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115869" y="3396957"/>
            <a:ext cx="1930769" cy="991476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2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Text Placeholder 13">
            <a:extLst>
              <a:ext uri="{0B74C4CC-2F01-491D-BA0E-EE9F9345D12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6C3C86E-1EA0-489E-9552-191D2B2A5FEA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115869" y="2816628"/>
            <a:ext cx="1263176" cy="343780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800" b="0" dirty="0">
                <a:solidFill>
                  <a:schemeClr val="accent3"/>
                </a:solidFill>
                <a:latin typeface="Playfair Display"/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Date</a:t>
            </a:r>
          </a:p>
        </p:txBody>
      </p:sp>
      <p:sp>
        <p:nvSpPr>
          <p:cNvPr id="13" name="Rectangle 20">
            <a:extLst>
              <a:ext uri="{1AD2B05C-4B6A-4EC4-A0F1-590EF97FF23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D4758D2-BF6F-43ED-9698-E7FD43D1F460}"/>
              </a:ext>
            </a:extLst>
          </p:cNvPr>
          <p:cNvSpPr/>
          <p:nvPr userDrawn="1"/>
        </p:nvSpPr>
        <p:spPr>
          <a:xfrm flipV="1">
            <a:off x="921673" y="3196305"/>
            <a:ext cx="34289" cy="12887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21">
            <a:extLst>
              <a:ext uri="{4B44E93B-1827-459C-93C0-9DA08856555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F588A04-A3CC-4118-A473-05B19491DA63}"/>
              </a:ext>
            </a:extLst>
          </p:cNvPr>
          <p:cNvSpPr/>
          <p:nvPr userDrawn="1"/>
        </p:nvSpPr>
        <p:spPr>
          <a:xfrm flipV="1">
            <a:off x="3555630" y="3196305"/>
            <a:ext cx="34289" cy="12887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Rectangle 22">
            <a:extLst>
              <a:ext uri="{A8507EE7-BD7B-4E83-91A3-BC4AF44D604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55A0861-C078-407E-89A5-BD1926E0989A}"/>
              </a:ext>
            </a:extLst>
          </p:cNvPr>
          <p:cNvSpPr/>
          <p:nvPr userDrawn="1"/>
        </p:nvSpPr>
        <p:spPr>
          <a:xfrm flipV="1">
            <a:off x="6098552" y="3196305"/>
            <a:ext cx="34289" cy="12887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Picture Placeholder 15">
            <a:extLst>
              <a:ext uri="{8F15E759-2D51-483D-94EE-8A3BC0489A9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A2ADAB-D399-45CD-87C2-3B21C5BD38B4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Footer Placeholder 1">
            <a:extLst>
              <a:ext uri="{9CBCB2AC-626E-451F-B05C-F5BF7CB4B16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3846B5D-5B0F-4881-9EC3-7C96A9AE228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8" name="Date Placeholder 1">
            <a:extLst>
              <a:ext uri="{1121C3FD-77F9-4180-AB5D-F61002125D1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D5E7BB0-3FF5-453B-B77B-7070E66FC409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8346F3E7-8C34-4ED1-A36A-8932BAC00FFC}" type="datetime4">
              <a:t>December 5, 2025</a:t>
            </a:fld>
            <a:endParaRPr lang="en-US" dirty="0"/>
          </a:p>
        </p:txBody>
      </p:sp>
    </p:spTree>
    <p:extLst>
      <p:ext uri="{36C66835-2CD6-4372-A5A9-3C08FC179C0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0D9DEDED-9D57-4D60-AF12-51FBF4BE908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ED2FE0A-E74A-4625-A88C-75EAACEFDF89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B3D0D5CC-DA8F-4A46-A38A-201B7ED1B3E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80DC21E-A2FE-44FD-A500-F3D3E7C9DF4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Slide Number Placeholder 5">
            <a:extLst>
              <a:ext uri="{8738737C-0A87-4651-88AE-3A7E31633E5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AB5E0C9-3467-443F-B99B-85D097E2C8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F27E2877-970F-49F4-95E9-6C9B77E23BCD}" type="slidenum">
              <a:t>‹#›</a:t>
            </a:fld>
            <a:endParaRPr lang="en-US" dirty="0"/>
          </a:p>
        </p:txBody>
      </p:sp>
      <p:sp>
        <p:nvSpPr>
          <p:cNvPr id="5" name="Picture Placeholder 10">
            <a:extLst>
              <a:ext uri="{8D3BAB12-0561-48CB-A037-FE26E1C69E2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DCDA492-29FE-4355-A2DA-2D05F82E4A9F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921673" y="1487984"/>
            <a:ext cx="2464843" cy="2856404"/>
          </a:xfrm>
        </p:spPr>
        <p:txBody>
          <a:bodyPr rtlCol="0">
            <a:noAutofit/>
          </a:bodyPr>
          <a:lstStyle>
            <a:lvl1pPr marL="0" lvl="0" indent="0">
              <a:buNone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6" name="Picture Placeholder 10">
            <a:extLst>
              <a:ext uri="{894A6349-F3F3-4E55-95A4-FF30AC63F51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6D3F494-098B-43FD-A73F-0B3FE136F0F5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655770" y="1487984"/>
            <a:ext cx="2464843" cy="2856404"/>
          </a:xfrm>
        </p:spPr>
        <p:txBody>
          <a:bodyPr rtlCol="0">
            <a:noAutofit/>
          </a:bodyPr>
          <a:lstStyle>
            <a:lvl1pPr marL="0" lvl="0" indent="0">
              <a:buNone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7" name="Picture Placeholder 10">
            <a:extLst>
              <a:ext uri="{4D35AD25-995E-4845-8249-50D9ED5DE1D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5C9E39-CC1E-4DD7-8477-0802C5B4A3B8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389866" y="3016306"/>
            <a:ext cx="2125482" cy="1328082"/>
          </a:xfrm>
        </p:spPr>
        <p:txBody>
          <a:bodyPr rtlCol="0">
            <a:noAutofit/>
          </a:bodyPr>
          <a:lstStyle>
            <a:lvl1pPr marL="0" lvl="0" indent="0">
              <a:buNone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8" name="Picture Placeholder 10">
            <a:extLst>
              <a:ext uri="{A7B200EB-EC0F-4EAF-9F2F-2BD25997D5E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3B66189-7CCF-4AB8-A71A-C9A28F2EFA04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389866" y="1492980"/>
            <a:ext cx="2125482" cy="1328082"/>
          </a:xfrm>
        </p:spPr>
        <p:txBody>
          <a:bodyPr rtlCol="0">
            <a:noAutofit/>
          </a:bodyPr>
          <a:lstStyle>
            <a:lvl1pPr marL="0" lvl="0" indent="0">
              <a:buNone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9" name="Picture Placeholder 8">
            <a:extLst>
              <a:ext uri="{0558F39D-EF80-4618-BBB2-639E74102B4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AD926C-2A07-495A-AD92-53C986CFC801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Footer Placeholder 1">
            <a:extLst>
              <a:ext uri="{D99ED412-5C43-4485-BAD7-7922FC7E85D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AC5D8E3-B28B-4E13-B0DA-54323007872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1" name="Date Placeholder 1">
            <a:extLst>
              <a:ext uri="{9B8AE085-788F-4D7B-B153-1FFF8B3416A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51DAE37-20F9-411C-BB70-90895FA14E5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7E8FC2FC-3B99-46A8-AC96-F6AC4846A8CD}" type="datetime4">
              <a:t>December 5, 2025</a:t>
            </a:fld>
            <a:endParaRPr lang="en-US" dirty="0"/>
          </a:p>
        </p:txBody>
      </p:sp>
    </p:spTree>
    <p:extLst>
      <p:ext uri="{E7C1B1AF-6C71-4FC0-845E-619B9DF2CB78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BE52C0F0-89B8-44E1-B1BE-CEA83E292EF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AB4E96A-0C02-4A04-A9D4-02349F774E06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284936F9-D8C3-47AE-B55C-51CAA908EBD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62B30A9-0AFF-4FED-9867-338E28E839F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Slide Number Placeholder 5">
            <a:extLst>
              <a:ext uri="{603C4012-4A48-4040-B712-F4896D6C261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A43C955-7BA5-4CFF-8065-AC0908B25F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20CC7AFC-AB5D-4829-956F-25740FAA5BDC}" type="slidenum">
              <a:t>‹#›</a:t>
            </a:fld>
            <a:endParaRPr lang="en-US" dirty="0"/>
          </a:p>
        </p:txBody>
      </p:sp>
      <p:sp>
        <p:nvSpPr>
          <p:cNvPr id="5" name="Picture Placeholder 10">
            <a:extLst>
              <a:ext uri="{DC28EBBE-0BBB-44FF-86B5-9B784AA02D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799767-3069-49D8-AEDB-1A538547F4EA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1419333" y="1675013"/>
            <a:ext cx="1851871" cy="1237007"/>
          </a:xfrm>
        </p:spPr>
        <p:txBody>
          <a:bodyPr rtlCol="0">
            <a:noAutofit/>
          </a:bodyPr>
          <a:lstStyle>
            <a:lvl1pPr marL="0" lvl="0" indent="0">
              <a:buNone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6" name="Text Placeholder 13">
            <a:extLst>
              <a:ext uri="{192D43B8-2918-4ACD-A2AC-7FFD96DEF53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9175503-1EB0-4E58-B7E2-3DB04E80AF9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419334" y="3483548"/>
            <a:ext cx="1860121" cy="991476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2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7" name="Text Placeholder 13">
            <a:extLst>
              <a:ext uri="{233F7390-0235-4193-A806-DA4FB327403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29FAFA-5616-4DA7-9B0F-E512DCFDF8A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19333" y="3018773"/>
            <a:ext cx="1851871" cy="343780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800" b="0" dirty="0">
                <a:solidFill>
                  <a:schemeClr val="accent3"/>
                </a:solidFill>
                <a:latin typeface="Playfair Display"/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Picture Placeholder 10">
            <a:extLst>
              <a:ext uri="{CC5694DF-2419-43B1-9A36-AADC5F627A5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0811D21-2E5D-4ADA-8C88-28951B38FABB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549562" y="1675013"/>
            <a:ext cx="1851871" cy="1237007"/>
          </a:xfrm>
        </p:spPr>
        <p:txBody>
          <a:bodyPr rtlCol="0">
            <a:noAutofit/>
          </a:bodyPr>
          <a:lstStyle>
            <a:lvl1pPr marL="0" lvl="0" indent="0">
              <a:buNone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9" name="Text Placeholder 13">
            <a:extLst>
              <a:ext uri="{CF08B4F1-D7B5-4310-89CC-23ECDAB5F54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1746C2D-1B02-46FC-8E00-0FB09CC153B4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3549563" y="3483548"/>
            <a:ext cx="1860121" cy="991476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2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Text Placeholder 13">
            <a:extLst>
              <a:ext uri="{3865D66D-0C60-4FEE-AF98-15C221F0633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A5042D-8E0A-4953-8959-93CE98AA33D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549562" y="3018773"/>
            <a:ext cx="1851871" cy="343780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800" b="0" dirty="0">
                <a:solidFill>
                  <a:schemeClr val="accent3"/>
                </a:solidFill>
                <a:latin typeface="Playfair Display"/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1" name="Picture Placeholder 10">
            <a:extLst>
              <a:ext uri="{D62C785B-1FB4-4D13-9F55-3B18AAA46C3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5A695A1-86DE-4531-9FA9-63870002A81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5692434" y="1675013"/>
            <a:ext cx="1851871" cy="1237007"/>
          </a:xfrm>
        </p:spPr>
        <p:txBody>
          <a:bodyPr rtlCol="0">
            <a:noAutofit/>
          </a:bodyPr>
          <a:lstStyle>
            <a:lvl1pPr marL="0" lvl="0" indent="0">
              <a:buNone/>
            </a:lvl1pPr>
          </a:lstStyle>
          <a:p>
            <a:r>
              <a:rPr lang="en-US" dirty="0"/>
              <a:t>Add Picture</a:t>
            </a:r>
          </a:p>
        </p:txBody>
      </p:sp>
      <p:sp>
        <p:nvSpPr>
          <p:cNvPr id="12" name="Text Placeholder 13">
            <a:extLst>
              <a:ext uri="{F20FB725-2329-4ABD-BA86-FFEDD1DE257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1BBEF49-A48A-4E3F-82DA-F49FF1EE8BE1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5692434" y="3483548"/>
            <a:ext cx="1860121" cy="991476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2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Text Placeholder 13">
            <a:extLst>
              <a:ext uri="{5CF7BE96-DF2E-4BC3-A2E0-4C2117182BE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598E1F4-45FA-444A-990A-0750D2342411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5692434" y="3018773"/>
            <a:ext cx="1851871" cy="343780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800" b="0" dirty="0">
                <a:solidFill>
                  <a:schemeClr val="accent3"/>
                </a:solidFill>
                <a:latin typeface="Playfair Display"/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Picture Placeholder 13">
            <a:extLst>
              <a:ext uri="{B96B449F-91C9-4E95-850B-1C1A0447FA5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FF35F9B-41E0-4AB6-BBDE-AA77CD480455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Footer Placeholder 1">
            <a:extLst>
              <a:ext uri="{A31F9530-E8CB-4A81-BA3A-4050CDA286B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B70F209-5C15-4B57-9DE5-FC229B6C65D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6" name="Date Placeholder 1">
            <a:extLst>
              <a:ext uri="{0122CAC5-8274-41F4-B911-B031F760E3D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E0AC55C-0505-4764-8945-285D68283F70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13DF9CD8-411F-420B-B59C-809444CFC8D1}" type="datetime4">
              <a:t>December 5, 2025</a:t>
            </a:fld>
            <a:endParaRPr lang="en-US" dirty="0"/>
          </a:p>
        </p:txBody>
      </p:sp>
    </p:spTree>
    <p:extLst>
      <p:ext uri="{87B9CFBB-42FF-4895-880C-D3B3B5EF8EC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3A44FE5-C168-4AE7-A23F-513AB63C641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4B4FFAA-C39C-4D69-BDD3-50BBA38BAD4E}"/>
              </a:ext>
            </a:extLst>
          </p:cNvPr>
          <p:cNvSpPr/>
          <p:nvPr userDrawn="1"/>
        </p:nvSpPr>
        <p:spPr>
          <a:xfrm>
            <a:off x="431373" y="409086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A28C4E5D-5F42-4093-840E-2CDB8102352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9F9D32C-4A92-41C4-8688-D2A55FAF113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6"/>
            <a:ext cx="7593676" cy="858929"/>
          </a:xfrm>
        </p:spPr>
        <p:txBody>
          <a:bodyPr rtlCol="0" anchor="b">
            <a:noAutofit/>
          </a:bodyPr>
          <a:lstStyle>
            <a:lvl1pPr lvl="0">
              <a:lnSpc>
                <a:spcPct val="100000"/>
              </a:lnSpc>
              <a:defRPr lang="en-US" sz="32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Content Placeholder 2">
            <a:extLst>
              <a:ext uri="{572C11E5-E1EE-4D68-A36B-5444C89AC29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525979A-A450-41DC-9AF0-30474E43E58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818352" y="2052538"/>
            <a:ext cx="2696996" cy="1929535"/>
          </a:xfrm>
        </p:spPr>
        <p:txBody>
          <a:bodyPr rtlCol="0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600" dirty="0">
                <a:solidFill>
                  <a:schemeClr val="tx2"/>
                </a:solidFill>
              </a:defRPr>
            </a:lvl1pPr>
            <a:lvl2pPr marL="457200" lvl="1" indent="0">
              <a:buNone/>
              <a:defRPr lang="en-US" sz="2000" dirty="0">
                <a:solidFill>
                  <a:schemeClr val="tx2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tx2"/>
                </a:solidFill>
              </a:defRPr>
            </a:lvl3pPr>
            <a:lvl4pPr marL="1371600" lvl="3" indent="0">
              <a:buNone/>
              <a:defRPr lang="en-US" sz="1600" dirty="0">
                <a:solidFill>
                  <a:schemeClr val="tx2"/>
                </a:solidFill>
              </a:defRPr>
            </a:lvl4pPr>
            <a:lvl5pPr marL="1828800" lvl="4" indent="0">
              <a:buNone/>
              <a:defRPr lang="en-US" sz="16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Slide Number Placeholder 5">
            <a:extLst>
              <a:ext uri="{5484B700-9379-4EA5-BB19-A293824145B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E3C5613-CE48-4E1A-87D5-8809C8B71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01A820DA-9174-4D0C-BBB2-D0AD7CC360DB}" type="slidenum"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E0EFD609-0644-472E-BEE6-2FB4BF5B4A8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8E73FB4-597D-4CC9-95E4-5BAD21F61DA4}"/>
              </a:ext>
            </a:extLst>
          </p:cNvPr>
          <p:cNvSpPr/>
          <p:nvPr userDrawn="1"/>
        </p:nvSpPr>
        <p:spPr>
          <a:xfrm>
            <a:off x="932638" y="2052538"/>
            <a:ext cx="4685794" cy="58642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ext Placeholder 13">
            <a:extLst>
              <a:ext uri="{77B8BC77-9EF4-4003-9315-60BCC28A5C9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C27B7FF-86F6-45C5-8839-AEC28429AD1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32559" y="2177822"/>
            <a:ext cx="4310279" cy="335858"/>
          </a:xfrm>
        </p:spPr>
        <p:txBody>
          <a:bodyPr rtlCol="0" anchor="ctr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6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Rectangle 12">
            <a:extLst>
              <a:ext uri="{505D39B3-9FE2-41B4-9017-A627BF0FC8E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FCFBBB7-757C-45C2-9E00-7A60B29CC91E}"/>
              </a:ext>
            </a:extLst>
          </p:cNvPr>
          <p:cNvSpPr/>
          <p:nvPr userDrawn="1"/>
        </p:nvSpPr>
        <p:spPr>
          <a:xfrm>
            <a:off x="932638" y="2720131"/>
            <a:ext cx="4685794" cy="58642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 Placeholder 13">
            <a:extLst>
              <a:ext uri="{061F4BF5-4551-4E5B-909D-D84E3F3D23D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FBCB4B3-2087-4594-A32F-FF653486367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132559" y="2845415"/>
            <a:ext cx="4310279" cy="335858"/>
          </a:xfrm>
        </p:spPr>
        <p:txBody>
          <a:bodyPr rtlCol="0" anchor="ctr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6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Rectangle 17">
            <a:extLst>
              <a:ext uri="{891BA7F6-8864-49BC-B605-069E9546727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826DB60-3BB1-4767-BEE3-09C83C6115E5}"/>
              </a:ext>
            </a:extLst>
          </p:cNvPr>
          <p:cNvSpPr/>
          <p:nvPr userDrawn="1"/>
        </p:nvSpPr>
        <p:spPr>
          <a:xfrm>
            <a:off x="932638" y="3395646"/>
            <a:ext cx="4685794" cy="586427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ext Placeholder 13">
            <a:extLst>
              <a:ext uri="{8173703A-D4A0-4D37-A964-C24DA80ABDF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B4C0352-1839-405A-B11F-7B8BA572A27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132559" y="3520930"/>
            <a:ext cx="4310279" cy="335858"/>
          </a:xfrm>
        </p:spPr>
        <p:txBody>
          <a:bodyPr rtlCol="0" anchor="ctr">
            <a:noAutofit/>
          </a:bodyPr>
          <a:lstStyle>
            <a:lvl1pPr marL="0" lvl="0" indent="0">
              <a:lnSpc>
                <a:spcPct val="100000"/>
              </a:lnSpc>
              <a:buNone/>
              <a:defRPr lang="en-US" sz="16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8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8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8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Picture Placeholder 11">
            <a:extLst>
              <a:ext uri="{62CD188D-1C54-4599-861E-82CCB2918D0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B3EB5C4-B5B9-499B-A263-253601EBF598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610350" y="4600575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1">
            <a:extLst>
              <a:ext uri="{CB31873B-F429-4E2A-A6CB-ABEDE3708E7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8AB0CB3-9DA0-4E4D-86D5-A9D768B9B5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4" name="Date Placeholder 1">
            <a:extLst>
              <a:ext uri="{2E335ECC-7529-4911-9B79-AA686B13C98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D76ECEC-6814-467A-9F25-02000B13BBDF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20128437-6D32-4D21-BB2F-FD23B5361015}" type="datetime4">
              <a:t>December 5, 2025</a:t>
            </a:fld>
            <a:endParaRPr lang="en-US" dirty="0"/>
          </a:p>
        </p:txBody>
      </p:sp>
    </p:spTree>
    <p:extLst>
      <p:ext uri="{95F32AC5-F497-40EF-BB1D-FE09DF721DB6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94FFBEE3-7EDD-4745-922E-E5F0C921448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A494797-5C89-4C1B-A3E8-8F6040A320C0}"/>
              </a:ext>
            </a:extLst>
          </p:cNvPr>
          <p:cNvSpPr/>
          <p:nvPr userDrawn="1"/>
        </p:nvSpPr>
        <p:spPr>
          <a:xfrm>
            <a:off x="431373" y="794138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B2FD8435-B3A6-4A69-9A82-D573301D906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C2C098A-B783-4FF4-843E-21FBC24D079B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851534" y="1161606"/>
            <a:ext cx="4333783" cy="1163589"/>
          </a:xfrm>
        </p:spPr>
        <p:txBody>
          <a:bodyPr rtlCol="0" anchor="t">
            <a:noAutofit/>
          </a:bodyPr>
          <a:lstStyle>
            <a:lvl1pPr lvl="0" algn="l">
              <a:lnSpc>
                <a:spcPct val="100000"/>
              </a:lnSpc>
              <a:defRPr lang="en-US" sz="3600" dirty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Rectangle 7">
            <a:extLst>
              <a:ext uri="{61329A55-5E64-46D4-89AE-B74A9ADA1CC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E77E1C-B688-4ED3-B4AA-0B690EE3D3C5}"/>
              </a:ext>
            </a:extLst>
          </p:cNvPr>
          <p:cNvSpPr/>
          <p:nvPr userDrawn="1"/>
        </p:nvSpPr>
        <p:spPr>
          <a:xfrm>
            <a:off x="431373" y="2818304"/>
            <a:ext cx="4565230" cy="120061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spcCol="0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Content Placeholder 2">
            <a:extLst>
              <a:ext uri="{28DFE240-C297-40DD-B758-5ADDFB461D1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4A2A697-F68E-44F8-A667-117F59497D5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1534" y="3101272"/>
            <a:ext cx="3999575" cy="810691"/>
          </a:xfrm>
        </p:spPr>
        <p:txBody>
          <a:bodyPr rtlCol="0">
            <a:noAutofit/>
          </a:bodyPr>
          <a:lstStyle>
            <a:lvl1pPr marL="0" lvl="0" indent="0">
              <a:buNone/>
              <a:defRPr lang="en-US" sz="2400" dirty="0">
                <a:solidFill>
                  <a:schemeClr val="bg1"/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bg1"/>
                </a:solidFill>
              </a:defRPr>
            </a:lvl2pPr>
            <a:lvl3pPr marL="914400" lvl="2" indent="0">
              <a:buNone/>
              <a:defRPr lang="en-US" sz="1600" dirty="0">
                <a:solidFill>
                  <a:schemeClr val="bg1"/>
                </a:solidFill>
              </a:defRPr>
            </a:lvl3pPr>
            <a:lvl4pPr marL="1371600" lvl="3" indent="0">
              <a:buNone/>
              <a:defRPr lang="en-US" sz="1400" dirty="0">
                <a:solidFill>
                  <a:schemeClr val="bg1"/>
                </a:solidFill>
              </a:defRPr>
            </a:lvl4pPr>
            <a:lvl5pPr marL="1828800" lvl="4" indent="0">
              <a:buNone/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6" name="Picture Placeholder 5">
            <a:extLst>
              <a:ext uri="{5F30B6D0-12BC-4AC6-8054-1782AD72FAE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70D8A9E-70FF-4D1F-A9E9-E75208E92C51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31377" y="4610100"/>
            <a:ext cx="19050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ooter Placeholder 1">
            <a:extLst>
              <a:ext uri="{39143F06-E3F3-494B-A456-51BB4B2A513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5C9195A-A17D-4B8F-85B6-9A4B1595430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8" name="Date Placeholder 1">
            <a:extLst>
              <a:ext uri="{52FDFBF0-2643-4228-A751-C045909EC3C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C119BB7-1987-445F-B928-3BA632004C4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9" name="Slide Number Placeholder 5">
            <a:extLst>
              <a:ext uri="{46D0DC77-724B-43F9-B4B3-493DD794641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BCB6368-318D-445A-A94C-3BF13FD4BFA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6909573" y="4867275"/>
            <a:ext cx="2057400" cy="273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algn="r">
              <a:defRPr lang="en-US" sz="900" b="0" i="0" dirty="0">
                <a:solidFill>
                  <a:schemeClr val="tx1">
                    <a:tint val="75000"/>
                  </a:schemeClr>
                </a:solidFill>
                <a:latin typeface="Montserrat Light"/>
              </a:defRPr>
            </a:lvl1pPr>
          </a:lstStyle>
          <a:p>
            <a:fld id="{1D41BC17-3A83-4DB9-98AF-34C34E53C712}" type="slidenum">
              <a:t>‹#›</a:t>
            </a:fld>
            <a:endParaRPr lang="en-US" dirty="0"/>
          </a:p>
        </p:txBody>
      </p:sp>
    </p:spTree>
    <p:extLst>
      <p:ext uri="{3FE5C147-BE15-44DB-B89B-B25A3FE8DB3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25DBBC89-9C52-425D-99CF-005B75B452D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F29474A-A045-406C-8652-9B6668D01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8F360697-4144-4B80-A8A1-0BF210AE41A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3FA9672-F8ED-4550-9E8B-50970BD2F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47356DCF-9B7A-4EBA-AF28-DBF637056EE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1B3E9CC-6488-4F65-A07E-96177E93B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09573" y="4867275"/>
            <a:ext cx="2057400" cy="273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algn="r">
              <a:defRPr lang="en-US" sz="900" b="0" i="0" dirty="0">
                <a:solidFill>
                  <a:schemeClr val="tx1">
                    <a:tint val="75000"/>
                  </a:schemeClr>
                </a:solidFill>
                <a:latin typeface="Montserrat Light"/>
              </a:defRPr>
            </a:lvl1pPr>
          </a:lstStyle>
          <a:p>
            <a:fld id="{AA33D5F0-BB33-4BA2-BDFC-9FC7A25C4F80}" type="slidenum">
              <a:t>‹#›</a:t>
            </a:fld>
            <a:endParaRPr lang="en-US" dirty="0"/>
          </a:p>
        </p:txBody>
      </p:sp>
      <p:sp>
        <p:nvSpPr>
          <p:cNvPr id="5" name="Footer Placeholder 1">
            <a:extLst>
              <a:ext uri="{2735EC54-34C0-46FB-B2D9-AFC12197F4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6213C9-0979-413C-83F0-AE7D13FE4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5550" y="485775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 Message</a:t>
            </a:r>
          </a:p>
        </p:txBody>
      </p:sp>
      <p:sp>
        <p:nvSpPr>
          <p:cNvPr id="6" name="Date Placeholder 1">
            <a:extLst>
              <a:ext uri="{B221DCE2-99D9-44E6-862B-8E189E2A4CD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0CB414D-0C1E-4AEA-A9BB-CAB4069F1E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857750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B2A3D937-68B1-4D8E-95D9-08A1865F6323}" type="datetime4">
              <a:t>December 5, 2025</a:t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000" b="0" dirty="0">
          <a:solidFill>
            <a:schemeClr val="tx1"/>
          </a:solidFill>
          <a:latin typeface="Playfair Display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Char char="•"/>
        <a:defRPr lang="en-US" sz="2000" i="0" dirty="0">
          <a:solidFill>
            <a:schemeClr val="tx1"/>
          </a:solidFill>
          <a:latin typeface="Montserrat-light"/>
        </a:defRPr>
      </a:lvl1pPr>
      <a:lvl2pPr marL="685800" lvl="1" indent="-228600" algn="l" rtl="0">
        <a:lnSpc>
          <a:spcPct val="90000"/>
        </a:lnSpc>
        <a:spcBef>
          <a:spcPts val="500"/>
        </a:spcBef>
        <a:buChar char="•"/>
        <a:defRPr lang="en-US" sz="2400" i="0" dirty="0">
          <a:solidFill>
            <a:schemeClr val="tx1"/>
          </a:solidFill>
          <a:latin typeface="Montserrat-light"/>
        </a:defRPr>
      </a:lvl2pPr>
      <a:lvl3pPr marL="1143000" lvl="2" indent="-228600" algn="l" rtl="0">
        <a:lnSpc>
          <a:spcPct val="90000"/>
        </a:lnSpc>
        <a:spcBef>
          <a:spcPts val="500"/>
        </a:spcBef>
        <a:buChar char="•"/>
        <a:defRPr lang="en-US" sz="2000" i="0" dirty="0">
          <a:solidFill>
            <a:schemeClr val="tx1"/>
          </a:solidFill>
          <a:latin typeface="Montserrat-light"/>
        </a:defRPr>
      </a:lvl3pPr>
      <a:lvl4pPr marL="1600200" lvl="3" indent="-228600" algn="l" rtl="0">
        <a:lnSpc>
          <a:spcPct val="90000"/>
        </a:lnSpc>
        <a:spcBef>
          <a:spcPts val="500"/>
        </a:spcBef>
        <a:buChar char="•"/>
        <a:defRPr lang="en-US" sz="1800" i="0" dirty="0">
          <a:solidFill>
            <a:schemeClr val="tx1"/>
          </a:solidFill>
          <a:latin typeface="Montserrat-light"/>
        </a:defRPr>
      </a:lvl4pPr>
      <a:lvl5pPr marL="2057400" lvl="4" indent="-228600" algn="l" rtl="0">
        <a:lnSpc>
          <a:spcPct val="90000"/>
        </a:lnSpc>
        <a:spcBef>
          <a:spcPts val="500"/>
        </a:spcBef>
        <a:buChar char="•"/>
        <a:defRPr lang="en-US" sz="1800" i="0" dirty="0">
          <a:solidFill>
            <a:schemeClr val="tx1"/>
          </a:solidFill>
          <a:latin typeface="Montserrat-light"/>
        </a:defRPr>
      </a:lvl5pPr>
      <a:lvl6pPr marL="2514600" lvl="5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BF64ADF9-86CA-4F44-A20B-0D22E218A1D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FD37FD2-73EB-412C-9ECC-4EEC0DFA8538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95417" y="1047750"/>
            <a:ext cx="4333783" cy="533400"/>
          </a:xfrm>
        </p:spPr>
        <p:txBody>
          <a:bodyPr rtlCol="0">
            <a:normAutofit fontScale="90000"/>
          </a:bodyPr>
          <a:lstStyle/>
          <a:p>
            <a:r>
              <a:rPr lang="en-US" sz="3100" b="1" dirty="0"/>
              <a:t>Customer Churn Prediction Analysis</a:t>
            </a:r>
            <a:br>
              <a:rPr lang="en-US" sz="2400" dirty="0"/>
            </a:br>
            <a:br>
              <a:rPr lang="en-US" sz="2400" dirty="0"/>
            </a:br>
            <a:r>
              <a:rPr lang="en-IN" sz="1800" dirty="0"/>
              <a:t>HEPro -Business Analytics Internship</a:t>
            </a:r>
            <a:br>
              <a:rPr lang="en-IN" sz="1800" dirty="0"/>
            </a:br>
            <a:r>
              <a:rPr lang="en-IN" sz="1800" dirty="0"/>
              <a:t>Duration – 2 Month (November- December 2025)</a:t>
            </a:r>
            <a:endParaRPr lang="en-US" sz="1800" dirty="0"/>
          </a:p>
        </p:txBody>
      </p:sp>
      <p:sp>
        <p:nvSpPr>
          <p:cNvPr id="3" name="Subtitle 2">
            <a:extLst>
              <a:ext uri="{522D0560-1435-4FF0-8B18-1BC787A05AF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E2A57F3-5E3B-4A58-966C-C1219D703549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2971800" y="3714750"/>
            <a:ext cx="2975517" cy="476250"/>
          </a:xfrm>
        </p:spPr>
        <p:txBody>
          <a:bodyPr rtlCol="0">
            <a:normAutofit/>
          </a:bodyPr>
          <a:lstStyle/>
          <a:p>
            <a:r>
              <a:rPr lang="en-IN" sz="1600" b="1" dirty="0"/>
              <a:t>Presented by : Ritu Paul</a:t>
            </a:r>
            <a:endParaRPr lang="en-IN" sz="1600" b="1" dirty="0">
              <a:latin typeface="Montserrat Light" panose="00000400000000000000" pitchFamily="2" charset="0"/>
            </a:endParaRPr>
          </a:p>
          <a:p>
            <a:endParaRPr lang="en-US" sz="1600" dirty="0"/>
          </a:p>
        </p:txBody>
      </p:sp>
      <p:pic>
        <p:nvPicPr>
          <p:cNvPr id="4" name="Picture Placeholder 9">
            <a:extLst>
              <a:ext uri="{1B37AF64-2183-4827-ACAA-15CFE3F8C2F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EED1C65-3CF2-4355-B9E2-084578F2183B}"/>
              </a:ext>
            </a:extLst>
          </p:cNvPr>
          <p:cNvPicPr>
            <a:picLocks noGrp="1" noChangeAspect="1"/>
          </p:cNvPicPr>
          <p:nvPr>
            <p:ph type="pic" idx="12"/>
          </p:nvPr>
        </p:nvPicPr>
        <p:blipFill>
          <a:blip r:embed="rId4"/>
          <a:srcRect t="8329" b="8329"/>
          <a:stretch>
            <a:fillRect/>
          </a:stretch>
        </p:blipFill>
        <p:spPr>
          <a:noFill/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61DF4A33-7B14-8EEF-18E3-7E958C6F9F50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/>
        </p:blipFill>
        <p:spPr/>
      </p:pic>
      <p:sp>
        <p:nvSpPr>
          <p:cNvPr id="6" name="Slide Number Placeholder 5">
            <a:extLst>
              <a:ext uri="{7F6D703B-562E-418C-9DD1-CD537769E88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5BD0F2F-BE9F-4C20-952A-C25308C943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algn="r">
              <a:defRPr lang="en-US" sz="900" b="0" i="0" dirty="0">
                <a:solidFill>
                  <a:schemeClr val="tx1">
                    <a:tint val="75000"/>
                  </a:schemeClr>
                </a:solidFill>
                <a:latin typeface="Montserrat Light"/>
              </a:defRPr>
            </a:lvl1pPr>
          </a:lstStyle>
          <a:p>
            <a:fld id="{A04D6F85-30BA-42A7-A7FF-DB655B341FFB}" type="slidenum">
              <a:rPr/>
              <a:t>1</a:t>
            </a:fld>
            <a:endParaRPr lang="en-US" dirty="0"/>
          </a:p>
        </p:txBody>
      </p:sp>
    </p:spTree>
    <p:extLst>
      <p:ext uri="{F6F682AB-EF29-413F-9862-CD938382B1EC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72D98-D09E-E15F-375D-209C5A09351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457200" y="409086"/>
            <a:ext cx="4336127" cy="410064"/>
          </a:xfrm>
        </p:spPr>
        <p:txBody>
          <a:bodyPr/>
          <a:lstStyle/>
          <a:p>
            <a:pPr algn="ctr"/>
            <a:r>
              <a:rPr lang="en-IN" sz="2800" b="1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C23F3-1177-660B-D81D-6CC392D8AC9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1672" y="895350"/>
            <a:ext cx="7593677" cy="3810000"/>
          </a:xfrm>
        </p:spPr>
        <p:txBody>
          <a:bodyPr numCol="2"/>
          <a:lstStyle/>
          <a:p>
            <a:r>
              <a:rPr lang="en-US" sz="1200" b="1" dirty="0">
                <a:latin typeface="Montserrat Light" panose="00000400000000000000" pitchFamily="2" charset="0"/>
              </a:rPr>
              <a:t>Cover Page</a:t>
            </a:r>
            <a:endParaRPr lang="en-US" sz="1200" dirty="0">
              <a:latin typeface="Montserrat Light" panose="00000400000000000000" pitchFamily="2" charset="0"/>
            </a:endParaRPr>
          </a:p>
          <a:p>
            <a:r>
              <a:rPr lang="en-US" sz="1200" b="1" dirty="0">
                <a:latin typeface="Montserrat Light" panose="00000400000000000000" pitchFamily="2" charset="0"/>
              </a:rPr>
              <a:t>Table of Contents</a:t>
            </a:r>
            <a:endParaRPr lang="en-US" sz="1200" dirty="0">
              <a:latin typeface="Montserrat Light" panose="00000400000000000000" pitchFamily="2" charset="0"/>
            </a:endParaRPr>
          </a:p>
          <a:p>
            <a:r>
              <a:rPr lang="en-US" sz="1200" b="1" dirty="0">
                <a:latin typeface="Montserrat Light" panose="00000400000000000000" pitchFamily="2" charset="0"/>
              </a:rPr>
              <a:t>Executive Summary</a:t>
            </a:r>
            <a:endParaRPr lang="en-US" sz="1200" dirty="0">
              <a:latin typeface="Montserrat Light" panose="00000400000000000000" pitchFamily="2" charset="0"/>
            </a:endParaRPr>
          </a:p>
          <a:p>
            <a:r>
              <a:rPr lang="en-US" sz="1200" b="1" dirty="0">
                <a:latin typeface="Montserrat Light" panose="00000400000000000000" pitchFamily="2" charset="0"/>
              </a:rPr>
              <a:t>Introduction</a:t>
            </a:r>
            <a:endParaRPr lang="en-US" sz="1200" dirty="0">
              <a:latin typeface="Montserrat Light" panose="00000400000000000000" pitchFamily="2" charset="0"/>
            </a:endParaRPr>
          </a:p>
          <a:p>
            <a:pPr lvl="1"/>
            <a:r>
              <a:rPr lang="en-US" sz="1200" dirty="0">
                <a:latin typeface="Montserrat Light" panose="00000400000000000000" pitchFamily="2" charset="0"/>
              </a:rPr>
              <a:t>What is Customer Churn?</a:t>
            </a:r>
          </a:p>
          <a:p>
            <a:pPr lvl="1"/>
            <a:r>
              <a:rPr lang="en-US" sz="1200" dirty="0">
                <a:latin typeface="Montserrat Light" panose="00000400000000000000" pitchFamily="2" charset="0"/>
              </a:rPr>
              <a:t>Importance of Churn Prediction</a:t>
            </a:r>
          </a:p>
          <a:p>
            <a:pPr lvl="1"/>
            <a:r>
              <a:rPr lang="en-US" sz="1200" dirty="0">
                <a:latin typeface="Montserrat Light" panose="00000400000000000000" pitchFamily="2" charset="0"/>
              </a:rPr>
              <a:t>Business Impact</a:t>
            </a:r>
          </a:p>
          <a:p>
            <a:pPr lvl="1"/>
            <a:r>
              <a:rPr lang="en-US" sz="1200" dirty="0">
                <a:latin typeface="Montserrat Light" panose="00000400000000000000" pitchFamily="2" charset="0"/>
              </a:rPr>
              <a:t>Problem Statement</a:t>
            </a:r>
          </a:p>
          <a:p>
            <a:r>
              <a:rPr lang="en-US" sz="1200" b="1" dirty="0">
                <a:latin typeface="Montserrat Light" panose="00000400000000000000" pitchFamily="2" charset="0"/>
              </a:rPr>
              <a:t>Project Goals &amp; Objectives</a:t>
            </a:r>
            <a:endParaRPr lang="en-US" sz="1200" dirty="0">
              <a:latin typeface="Montserrat Light" panose="00000400000000000000" pitchFamily="2" charset="0"/>
            </a:endParaRPr>
          </a:p>
          <a:p>
            <a:r>
              <a:rPr lang="en-US" sz="1200" b="1" dirty="0">
                <a:latin typeface="Montserrat Light" panose="00000400000000000000" pitchFamily="2" charset="0"/>
              </a:rPr>
              <a:t>Daily Work Log</a:t>
            </a:r>
            <a:endParaRPr lang="en-US" sz="1200" dirty="0">
              <a:latin typeface="Montserrat Light" panose="00000400000000000000" pitchFamily="2" charset="0"/>
            </a:endParaRPr>
          </a:p>
          <a:p>
            <a:r>
              <a:rPr lang="en-US" sz="1200" b="1" dirty="0">
                <a:latin typeface="Montserrat Light" panose="00000400000000000000" pitchFamily="2" charset="0"/>
              </a:rPr>
              <a:t>Project Development Phase</a:t>
            </a:r>
          </a:p>
          <a:p>
            <a:pPr lvl="1"/>
            <a:r>
              <a:rPr lang="en-US" sz="1200" dirty="0">
                <a:latin typeface="Montserrat Light" panose="00000400000000000000" pitchFamily="2" charset="0"/>
              </a:rPr>
              <a:t>Dataset Description</a:t>
            </a:r>
          </a:p>
          <a:p>
            <a:pPr lvl="1"/>
            <a:r>
              <a:rPr lang="en-US" sz="1200" dirty="0">
                <a:latin typeface="Montserrat Light" panose="00000400000000000000" pitchFamily="2" charset="0"/>
              </a:rPr>
              <a:t>Data Preprocessing</a:t>
            </a:r>
          </a:p>
          <a:p>
            <a:pPr lvl="1"/>
            <a:r>
              <a:rPr lang="en-US" sz="1200" dirty="0">
                <a:latin typeface="Montserrat Light" panose="00000400000000000000" pitchFamily="2" charset="0"/>
              </a:rPr>
              <a:t>Exploratory Data Analysis (EDA)</a:t>
            </a:r>
          </a:p>
          <a:p>
            <a:pPr lvl="1"/>
            <a:r>
              <a:rPr lang="en-US" sz="1200" dirty="0">
                <a:latin typeface="Montserrat Light" panose="00000400000000000000" pitchFamily="2" charset="0"/>
              </a:rPr>
              <a:t>Model Development</a:t>
            </a:r>
          </a:p>
          <a:p>
            <a:pPr lvl="1"/>
            <a:r>
              <a:rPr lang="en-US" sz="1200" dirty="0">
                <a:latin typeface="Montserrat Light" panose="00000400000000000000" pitchFamily="2" charset="0"/>
              </a:rPr>
              <a:t>Model Evaluation</a:t>
            </a:r>
          </a:p>
          <a:p>
            <a:r>
              <a:rPr lang="en-US" sz="1200" b="1" dirty="0">
                <a:latin typeface="Montserrat Light" panose="00000400000000000000" pitchFamily="2" charset="0"/>
              </a:rPr>
              <a:t>Final Insights &amp; Recommendations</a:t>
            </a:r>
          </a:p>
          <a:p>
            <a:r>
              <a:rPr lang="en-US" sz="1200" b="1" dirty="0">
                <a:latin typeface="Montserrat Light" panose="00000400000000000000" pitchFamily="2" charset="0"/>
              </a:rPr>
              <a:t>Project Conclusion</a:t>
            </a:r>
          </a:p>
          <a:p>
            <a:r>
              <a:rPr lang="en-US" sz="1200" b="1" dirty="0">
                <a:latin typeface="Montserrat Light" panose="00000400000000000000" pitchFamily="2" charset="0"/>
              </a:rPr>
              <a:t>Challenges &amp; Solutions</a:t>
            </a:r>
          </a:p>
          <a:p>
            <a:r>
              <a:rPr lang="en-US" sz="1200" b="1" dirty="0">
                <a:latin typeface="Montserrat Light" panose="00000400000000000000" pitchFamily="2" charset="0"/>
              </a:rPr>
              <a:t>Learnings &amp; Key Takeaways</a:t>
            </a:r>
          </a:p>
          <a:p>
            <a:r>
              <a:rPr lang="en-US" sz="1200" b="1" dirty="0">
                <a:latin typeface="Montserrat Light" panose="00000400000000000000" pitchFamily="2" charset="0"/>
              </a:rPr>
              <a:t>References</a:t>
            </a:r>
          </a:p>
          <a:p>
            <a:pPr marL="0" indent="0">
              <a:buNone/>
            </a:pPr>
            <a:endParaRPr lang="en-IN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CE421-287F-17CC-64C8-B2A6DD7D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EF3D6-17F1-458D-AC68-F48DC85043E0}" type="slidenum">
              <a:rPr lang="en-IN" smtClean="0"/>
              <a:t>2</a:t>
            </a:fld>
            <a:endParaRPr lang="en-IN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5DBF5FD-304A-150B-58C4-CC746B7F7DBB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732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54939-A95F-CDB3-C2FC-679619E6D3CF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304800" y="361950"/>
            <a:ext cx="3657600" cy="486264"/>
          </a:xfrm>
        </p:spPr>
        <p:txBody>
          <a:bodyPr/>
          <a:lstStyle/>
          <a:p>
            <a:pPr algn="ctr"/>
            <a:r>
              <a:rPr lang="en-IN" sz="2800" b="1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C0F06-0B04-2532-0822-5020D1E0344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33400" y="1352550"/>
            <a:ext cx="7981949" cy="2362200"/>
          </a:xfrm>
        </p:spPr>
        <p:txBody>
          <a:bodyPr/>
          <a:lstStyle/>
          <a:p>
            <a:r>
              <a:rPr lang="en-US" dirty="0"/>
              <a:t>Analyzed telecom customer churn to understand why customers leave the service.</a:t>
            </a:r>
          </a:p>
          <a:p>
            <a:r>
              <a:rPr lang="en-US" b="1" dirty="0"/>
              <a:t>Objective: </a:t>
            </a:r>
            <a:r>
              <a:rPr lang="en-US" dirty="0"/>
              <a:t>Identify churn drivers and predict high-risk customers.</a:t>
            </a:r>
          </a:p>
          <a:p>
            <a:r>
              <a:rPr lang="en-US" b="1" dirty="0"/>
              <a:t>Approach:</a:t>
            </a:r>
            <a:r>
              <a:rPr lang="en-US" dirty="0"/>
              <a:t> Data cleaning, preprocessing, EDA, and ML model building. Tested multiple models like Logistic Regression, Random Forest, and Gradient Boosting.</a:t>
            </a:r>
          </a:p>
          <a:p>
            <a:r>
              <a:rPr lang="en-US" b="1" dirty="0"/>
              <a:t>Outcome:</a:t>
            </a:r>
            <a:r>
              <a:rPr lang="en-US" dirty="0"/>
              <a:t> Selected the best model and provided insights to reduce churn and improve retention.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E8782-D7C9-A2F0-77C1-41C126E7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EF3D6-17F1-458D-AC68-F48DC85043E0}" type="slidenum">
              <a:rPr lang="en-IN" smtClean="0"/>
              <a:t>3</a:t>
            </a:fld>
            <a:endParaRPr lang="en-IN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511B698E-A42A-8012-0FD8-50A2AE13B983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24829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6308998-4EB7-4A47-8404-73A652136BA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6E5C772-B03B-4384-98BC-CD8B4C28632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762000" y="370285"/>
            <a:ext cx="2812127" cy="677465"/>
          </a:xfrm>
        </p:spPr>
        <p:txBody>
          <a:bodyPr rtlCol="0"/>
          <a:lstStyle/>
          <a:p>
            <a:r>
              <a:rPr lang="en-IN" b="1" dirty="0"/>
              <a:t>Introduction</a:t>
            </a:r>
            <a:endParaRPr lang="en-US" b="1" dirty="0"/>
          </a:p>
        </p:txBody>
      </p:sp>
      <p:sp>
        <p:nvSpPr>
          <p:cNvPr id="3" name="Content Placeholder 2">
            <a:extLst>
              <a:ext uri="{BDEAAF2C-122C-4C94-A54C-27F64E6B98F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70D2F68-4408-43D4-9282-C08F3290135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8201" y="1581150"/>
            <a:ext cx="7391399" cy="2895600"/>
          </a:xfrm>
        </p:spPr>
        <p:txBody>
          <a:bodyPr rtlCol="0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Customer churn</a:t>
            </a:r>
            <a:r>
              <a:rPr lang="en-US" dirty="0"/>
              <a:t> is the rate at which customers discontinue or stop using a company’s services.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Predicting churn</a:t>
            </a:r>
            <a:r>
              <a:rPr lang="en-US" dirty="0"/>
              <a:t> enables businesses to proactively identify at-risk customers and take targeted retention actions.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Reducing churn</a:t>
            </a:r>
            <a:r>
              <a:rPr lang="en-US" dirty="0"/>
              <a:t> strengthens revenue stability, decreases new customer acquisition costs, and enhances long-term customer loyalty.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Problem Statement:</a:t>
            </a:r>
            <a:r>
              <a:rPr lang="en-US" dirty="0"/>
              <a:t> The telecom company is facing a high churn rate, particularly among short-tenure and high-billing customers. A data-driven analytical approach is required to understand churn drivers and build an accurate churn prediction model.</a:t>
            </a:r>
          </a:p>
          <a:p>
            <a:endParaRPr lang="en-US" dirty="0"/>
          </a:p>
        </p:txBody>
      </p:sp>
      <p:sp>
        <p:nvSpPr>
          <p:cNvPr id="5" name="Slide Number Placeholder 5">
            <a:extLst>
              <a:ext uri="{D60C9F13-C12C-4F69-9C93-9428FDFA14F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95D020D-24FA-40CE-B105-5E1484F68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06E0F666-38F3-444A-8FFC-18DC40E76E57}" type="slidenum">
              <a:rPr/>
              <a:t>4</a:t>
            </a:fld>
            <a:endParaRPr 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BAA598F-DE19-F6E2-6E8F-637B62263C2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>
            <a:fillRect/>
          </a:stretch>
        </p:blipFill>
        <p:spPr/>
      </p:pic>
    </p:spTree>
    <p:extLst>
      <p:ext uri="{3F145E9A-F8B3-409A-BA0F-41BC324D4F1B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B0CEC8F3-7B09-4AB7-9D91-985855DD23D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6E1A794-8E35-4E5A-9531-0010C12A9854}"/>
              </a:ext>
            </a:extLst>
          </p:cNvPr>
          <p:cNvSpPr/>
          <p:nvPr/>
        </p:nvSpPr>
        <p:spPr>
          <a:xfrm>
            <a:off x="457200" y="438150"/>
            <a:ext cx="7530140" cy="3447702"/>
          </a:xfrm>
          <a:prstGeom prst="rect">
            <a:avLst/>
          </a:prstGeom>
          <a:gradFill rotWithShape="1">
            <a:gsLst>
              <a:gs pos="0">
                <a:schemeClr val="accent3">
                  <a:alpha val="54000"/>
                  <a:lumMod val="20000"/>
                  <a:lumOff val="80000"/>
                </a:schemeClr>
              </a:gs>
              <a:gs pos="58000">
                <a:schemeClr val="accent6">
                  <a:alpha val="0"/>
                  <a:lumMod val="0"/>
                  <a:lumOff val="100000"/>
                </a:schemeClr>
              </a:gs>
            </a:gsLst>
            <a:lin ang="4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endParaRPr lang="en-US" b="1" dirty="0"/>
          </a:p>
        </p:txBody>
      </p:sp>
      <p:sp>
        <p:nvSpPr>
          <p:cNvPr id="3" name="Title 1">
            <a:extLst>
              <a:ext uri="{2009D621-0CB9-433C-9E2F-E32E8962DFF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7F4C3DD-4B09-4917-A8E8-DCFE32C16833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6704"/>
            <a:ext cx="5174327" cy="488646"/>
          </a:xfrm>
        </p:spPr>
        <p:txBody>
          <a:bodyPr rtlCol="0"/>
          <a:lstStyle/>
          <a:p>
            <a:pPr>
              <a:lnSpc>
                <a:spcPct val="100000"/>
              </a:lnSpc>
            </a:pPr>
            <a:r>
              <a:rPr lang="en-IN" sz="2800" b="1" dirty="0"/>
              <a:t>Project Goals and Objectives</a:t>
            </a:r>
            <a:endParaRPr lang="en-US" sz="2800" b="1" dirty="0"/>
          </a:p>
        </p:txBody>
      </p:sp>
      <p:sp>
        <p:nvSpPr>
          <p:cNvPr id="4" name="Content Placeholder 2">
            <a:extLst>
              <a:ext uri="{FC7954AB-19DD-497E-8AEC-CC50FF0012D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D9F659-831C-4F47-8873-4A930A30E16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1671" y="1276350"/>
            <a:ext cx="7039841" cy="2895600"/>
          </a:xfrm>
        </p:spPr>
        <p:txBody>
          <a:bodyPr rtlCol="0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Identify key factors influencing customer churn in the telecom dataset.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Clean, preprocess, and structure the data for accurate analysis.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Perform Exploratory Data Analysis (EDA) to uncover patterns and insights.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Build and compare machine learning models to predict churn.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Select the best-performing model based on evaluation metrics.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Provide actionable recommendations to reduce churn and improve retention strategies.</a:t>
            </a:r>
          </a:p>
        </p:txBody>
      </p:sp>
      <p:sp>
        <p:nvSpPr>
          <p:cNvPr id="8" name="Slide Number Placeholder 5">
            <a:extLst>
              <a:ext uri="{1C4E2F77-5CC3-41DF-87E6-A754F58083D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BADD896-33C5-4DAA-B92C-D6CBE1FE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373" y="4867275"/>
            <a:ext cx="2057400" cy="273843"/>
          </a:xfrm>
        </p:spPr>
        <p:txBody>
          <a:bodyPr lIns="0" rtlCol="0">
            <a:noAutofit/>
          </a:bodyPr>
          <a:lstStyle>
            <a:lvl1pPr lvl="0" algn="l"/>
          </a:lstStyle>
          <a:p>
            <a:fld id="{13177EB7-45DA-46BE-A02B-5D81DC42BCD8}" type="slidenum">
              <a:rPr/>
              <a:t>5</a:t>
            </a:fld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243AB682-16EE-0EA6-D73F-D12A662675AD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>
            <a:fillRect/>
          </a:stretch>
        </p:blipFill>
        <p:spPr/>
      </p:pic>
    </p:spTree>
    <p:extLst>
      <p:ext uri="{E9B7585D-400A-42CC-B211-772345217556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C5E2A-B709-D817-01A7-ECE917E5C5B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457200" y="209550"/>
            <a:ext cx="5936327" cy="562464"/>
          </a:xfrm>
        </p:spPr>
        <p:txBody>
          <a:bodyPr/>
          <a:lstStyle/>
          <a:p>
            <a:r>
              <a:rPr lang="en-IN" sz="2800" b="1" dirty="0"/>
              <a:t>Daily Work Log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FB29F-C77B-E7AC-EBB2-CE7C6C3BF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01898-CB97-4588-B8AC-3BE5CAD2900B}" type="slidenum">
              <a:rPr lang="en-IN" smtClean="0"/>
              <a:t>6</a:t>
            </a:fld>
            <a:endParaRPr lang="en-IN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0A53CB69-12E4-B8B6-BB99-66AF139E9ADD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>
            <a:fillRect/>
          </a:stretch>
        </p:blipFill>
        <p:spPr/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D85946E-3FD7-A11D-F169-6E6AE5352A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00B435E-1C99-FC95-D86A-4512BDE7100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0D43979-0AE7-4735-8CBA-C7E43EA285AC}" type="datetime4">
              <a:rPr lang="en-IN" smtClean="0"/>
              <a:t>05 December 2025</a:t>
            </a:fld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75BE502-598A-49D6-6DBA-91B629CD9EF5}"/>
              </a:ext>
            </a:extLst>
          </p:cNvPr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3313218431"/>
              </p:ext>
            </p:extLst>
          </p:nvPr>
        </p:nvGraphicFramePr>
        <p:xfrm>
          <a:off x="838200" y="895350"/>
          <a:ext cx="8001000" cy="39471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846394860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359130907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Montserrat-light" panose="020B0604020202020204" charset="0"/>
                        </a:rPr>
                        <a:t>Week Number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Montserrat-light" panose="020B0604020202020204" charset="0"/>
                        </a:rPr>
                        <a:t>Details of Work Log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1418978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Week-1(03Nov-07Nov)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03 Nov:</a:t>
                      </a:r>
                      <a: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Project kickoff, understanding churn problem, reviewing dataset.</a:t>
                      </a:r>
                      <a:b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</a:br>
                      <a:r>
                        <a:rPr lang="en-IN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04 Nov:</a:t>
                      </a:r>
                      <a: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Defined project scope, goals, and initial plan.</a:t>
                      </a:r>
                      <a:b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</a:br>
                      <a:r>
                        <a:rPr lang="en-IN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05 Nov:</a:t>
                      </a:r>
                      <a: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Explored dataset structure, checked data types.</a:t>
                      </a:r>
                      <a:b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</a:br>
                      <a:r>
                        <a:rPr lang="en-IN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06 Nov:</a:t>
                      </a:r>
                      <a: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Identified missing values, duplicates, and inconsistencies.</a:t>
                      </a:r>
                      <a:b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</a:br>
                      <a:r>
                        <a:rPr lang="en-IN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07 Nov:</a:t>
                      </a:r>
                      <a: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Performed initial data cleaning and documented progress.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08302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Week-2(10Nov-14Nov)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10 Nov:</a:t>
                      </a:r>
                      <a: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Descriptive statistics and summary-level analysis.</a:t>
                      </a:r>
                      <a:b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</a:br>
                      <a:r>
                        <a:rPr lang="en-IN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11 Nov:</a:t>
                      </a:r>
                      <a: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Visualized churn distribution and customer demographics.</a:t>
                      </a:r>
                      <a:b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</a:br>
                      <a:r>
                        <a:rPr lang="en-IN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12 Nov:</a:t>
                      </a:r>
                      <a: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Analyzed contract types, tenure, internet service, and billing patterns.</a:t>
                      </a:r>
                      <a:b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</a:br>
                      <a:r>
                        <a:rPr lang="en-IN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13 Nov:</a:t>
                      </a:r>
                      <a: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Created correlation heatmap and identified key influencing factors.</a:t>
                      </a:r>
                      <a:b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</a:br>
                      <a:r>
                        <a:rPr lang="en-IN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14 Nov:</a:t>
                      </a:r>
                      <a: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Finalized EDA charts and summarized insights.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27753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Week-3(17Nov-21Nov)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17 Nov:</a:t>
                      </a:r>
                      <a: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Train-test split and baseline Logistic Regression model.</a:t>
                      </a:r>
                      <a:b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</a:br>
                      <a:r>
                        <a:rPr lang="en-IN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18 Nov:</a:t>
                      </a:r>
                      <a: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Built Random Forest model and checked feature importance.</a:t>
                      </a:r>
                      <a:b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</a:br>
                      <a:r>
                        <a:rPr lang="en-IN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19 Nov:</a:t>
                      </a:r>
                      <a: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Developed Gradient Boosting model for comparison.</a:t>
                      </a:r>
                      <a:b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</a:br>
                      <a:r>
                        <a:rPr lang="en-IN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20 Nov:</a:t>
                      </a:r>
                      <a: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Hyperparameter tuning using GridSearchCV.</a:t>
                      </a:r>
                      <a:b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</a:br>
                      <a:r>
                        <a:rPr lang="en-IN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21 Nov:</a:t>
                      </a:r>
                      <a:r>
                        <a:rPr lang="en-IN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Evaluated all models and selected the best one based on performance metrics.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960175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Week-4(24Nov-28Nov)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24 Nov:</a:t>
                      </a:r>
                      <a:r>
                        <a:rPr lang="en-US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Interpreted model outputs and identified churn drivers.</a:t>
                      </a:r>
                      <a:br>
                        <a:rPr lang="en-US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</a:br>
                      <a:r>
                        <a:rPr lang="en-US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25 Nov:</a:t>
                      </a:r>
                      <a:r>
                        <a:rPr lang="en-US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Prepared business insights and retention recommendations.</a:t>
                      </a:r>
                      <a:br>
                        <a:rPr lang="en-US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</a:br>
                      <a:r>
                        <a:rPr lang="en-US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26 Nov:</a:t>
                      </a:r>
                      <a:r>
                        <a:rPr lang="en-US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Created PPT slides for EDA, models, and insights.</a:t>
                      </a:r>
                      <a:br>
                        <a:rPr lang="en-US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</a:br>
                      <a:r>
                        <a:rPr lang="en-US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27 Nov:</a:t>
                      </a:r>
                      <a:r>
                        <a:rPr lang="en-US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Added introduction, objectives, summary, and formatted slides.</a:t>
                      </a:r>
                      <a:br>
                        <a:rPr lang="en-US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</a:br>
                      <a:r>
                        <a:rPr lang="en-US" sz="1000" b="1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28 Nov:</a:t>
                      </a:r>
                      <a:r>
                        <a:rPr lang="en-US" sz="1000" dirty="0">
                          <a:solidFill>
                            <a:srgbClr val="1F4CB2"/>
                          </a:solidFill>
                          <a:latin typeface="Montserrat-light" panose="020B0604020202020204" charset="0"/>
                        </a:rPr>
                        <a:t> Final review, proofreading, and submission of project &amp; PPT.</a:t>
                      </a:r>
                      <a:endParaRPr lang="en-IN" sz="1000" dirty="0">
                        <a:solidFill>
                          <a:srgbClr val="1F4CB2"/>
                        </a:solidFill>
                        <a:latin typeface="Montserrat-light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562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2234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F22496A6-FAA0-50DD-B402-99543250276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762000" y="1123950"/>
            <a:ext cx="3726527" cy="2924664"/>
          </a:xfrm>
        </p:spPr>
        <p:txBody>
          <a:bodyPr>
            <a:normAutofit fontScale="90000"/>
          </a:bodyPr>
          <a:lstStyle/>
          <a:p>
            <a:br>
              <a:rPr lang="en-IN" sz="1800" dirty="0"/>
            </a:br>
            <a:br>
              <a:rPr lang="en-IN" sz="1800" dirty="0"/>
            </a:br>
            <a:r>
              <a:rPr lang="en-IN" sz="2700" b="1" dirty="0"/>
              <a:t>Dataset Description</a:t>
            </a:r>
            <a:br>
              <a:rPr lang="en-IN" sz="1800" b="1" dirty="0"/>
            </a:br>
            <a:br>
              <a:rPr lang="en-IN" sz="1800" dirty="0"/>
            </a:br>
            <a:r>
              <a:rPr lang="en-US" sz="1200" dirty="0"/>
              <a:t>Telecom customer dataset with demographic, service usage, and billing details.</a:t>
            </a:r>
            <a:br>
              <a:rPr lang="en-US" sz="1200" dirty="0"/>
            </a:br>
            <a:br>
              <a:rPr lang="en-US" sz="1200" dirty="0"/>
            </a:br>
            <a:r>
              <a:rPr lang="en-US" sz="1800" b="1" dirty="0"/>
              <a:t>Key features include:</a:t>
            </a:r>
            <a:br>
              <a:rPr lang="en-US" sz="1800" b="1" dirty="0"/>
            </a:br>
            <a:br>
              <a:rPr lang="en-US" sz="1200" dirty="0"/>
            </a:br>
            <a:r>
              <a:rPr lang="en-US" sz="1200" dirty="0"/>
              <a:t> tenure, contract type, internet service, payment method, charges, dependents, senior citizen.</a:t>
            </a:r>
            <a:br>
              <a:rPr lang="en-US" sz="1200" dirty="0"/>
            </a:br>
            <a:br>
              <a:rPr lang="en-US" sz="1200" dirty="0"/>
            </a:br>
            <a:r>
              <a:rPr lang="en-US" sz="1800" b="1" dirty="0"/>
              <a:t>Target variable: </a:t>
            </a:r>
            <a:r>
              <a:rPr lang="en-US" sz="1200" dirty="0"/>
              <a:t>Churn (Yes/No).</a:t>
            </a: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endParaRPr lang="en-IN" sz="1200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F573A2D7-5413-0547-4709-8DD273920C3F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2495550"/>
            <a:ext cx="4190999" cy="2057400"/>
          </a:xfrm>
        </p:spPr>
      </p:pic>
      <p:sp>
        <p:nvSpPr>
          <p:cNvPr id="6" name="Slide Number Placeholder 5">
            <a:extLst>
              <a:ext uri="{25112FBA-9451-4C1F-93F6-7B8403E7441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C376975-B48D-4223-9A0A-F8248D652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rtlCol="0">
            <a:noAutofit/>
          </a:bodyPr>
          <a:lstStyle>
            <a:lvl1pPr lvl="0" algn="l"/>
          </a:lstStyle>
          <a:p>
            <a:fld id="{D79E8BCD-736E-4EE1-BC17-03C00E8D2739}" type="slidenum">
              <a:rPr/>
              <a:t>7</a:t>
            </a:fld>
            <a:endParaRPr lang="en-US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4C4E110D-4100-C098-C73F-F2E12D3D51BF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297" y="514350"/>
            <a:ext cx="4153405" cy="1905000"/>
          </a:xfrm>
        </p:spPr>
      </p:pic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2A782560-0387-33DD-4BF5-BEC0870ED4FA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/>
        </p:blipFill>
        <p:spPr/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74731D1-C622-91E3-48FC-26CDD2F15931}"/>
              </a:ext>
            </a:extLst>
          </p:cNvPr>
          <p:cNvSpPr txBox="1"/>
          <p:nvPr/>
        </p:nvSpPr>
        <p:spPr>
          <a:xfrm>
            <a:off x="457200" y="36195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3"/>
                </a:solidFill>
                <a:latin typeface="Playfair Display"/>
              </a:rPr>
              <a:t>Project</a:t>
            </a:r>
            <a:r>
              <a:rPr lang="en-IN" sz="2400" u="sng" dirty="0"/>
              <a:t> </a:t>
            </a:r>
            <a:r>
              <a:rPr lang="en-IN" sz="2400" b="1" u="sng" dirty="0">
                <a:solidFill>
                  <a:schemeClr val="accent3"/>
                </a:solidFill>
                <a:latin typeface="Playfair Display"/>
              </a:rPr>
              <a:t>Development</a:t>
            </a:r>
            <a:r>
              <a:rPr lang="en-IN" sz="2400" u="sng" dirty="0"/>
              <a:t> </a:t>
            </a:r>
            <a:r>
              <a:rPr lang="en-IN" sz="2400" b="1" u="sng" dirty="0">
                <a:solidFill>
                  <a:schemeClr val="accent3"/>
                </a:solidFill>
                <a:latin typeface="Playfair Display"/>
              </a:rPr>
              <a:t>Phase</a:t>
            </a:r>
          </a:p>
        </p:txBody>
      </p:sp>
    </p:spTree>
    <p:extLst>
      <p:ext uri="{BFAE09ED-0CA9-4B88-AC91-6EAA4FCACA4B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49997442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7C9BF-CF35-D98B-81D7-3915624D3E4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457201" y="409086"/>
            <a:ext cx="4419600" cy="486264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07B98A5A-269D-5743-1E69-1519060E7F88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642" y="2647950"/>
            <a:ext cx="3510116" cy="1828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DC8F9-26CE-611C-B1BB-CA8C9709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3E8-5869-47AC-8121-5897D6422D94}" type="slidenum">
              <a:rPr lang="en-IN" smtClean="0"/>
              <a:t>8</a:t>
            </a:fld>
            <a:endParaRPr lang="en-IN" dirty="0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1A9CFCAE-54F5-21E4-A442-2E72173CEA28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773" y="742950"/>
            <a:ext cx="3270803" cy="1828800"/>
          </a:xfrm>
        </p:spPr>
      </p:pic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9305C267-FE09-1F11-83F7-278062EA59B7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>
            <a:fillRect/>
          </a:stretch>
        </p:blipFill>
        <p:spPr/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C7D3907-8C42-61C1-03F6-0B3F3B5FCF78}"/>
              </a:ext>
            </a:extLst>
          </p:cNvPr>
          <p:cNvSpPr txBox="1">
            <a:spLocks/>
          </p:cNvSpPr>
          <p:nvPr/>
        </p:nvSpPr>
        <p:spPr>
          <a:xfrm>
            <a:off x="990600" y="1047750"/>
            <a:ext cx="3726527" cy="2924664"/>
          </a:xfrm>
          <a:prstGeom prst="rect">
            <a:avLst/>
          </a:prstGeom>
        </p:spPr>
        <p:txBody>
          <a:bodyPr vert="horz" lIns="0" tIns="0" rIns="0" bIns="0" rtlCol="0" anchor="b">
            <a:normAutofit fontScale="90000" lnSpcReduction="20000"/>
          </a:bodyPr>
          <a:lstStyle>
            <a:lvl1pPr lvl="0" algn="l" rtl="0">
              <a:lnSpc>
                <a:spcPct val="90000"/>
              </a:lnSpc>
              <a:spcBef>
                <a:spcPct val="0"/>
              </a:spcBef>
              <a:buNone/>
              <a:defRPr lang="en-US" sz="3200" b="0" dirty="0">
                <a:solidFill>
                  <a:schemeClr val="accent3"/>
                </a:solidFill>
                <a:latin typeface="Playfair Display"/>
              </a:defRPr>
            </a:lvl1pPr>
          </a:lstStyle>
          <a:p>
            <a:r>
              <a:rPr lang="en-IN" sz="2700" b="1" dirty="0"/>
              <a:t>Data Preprocessing</a:t>
            </a:r>
          </a:p>
          <a:p>
            <a:br>
              <a:rPr lang="en-IN" sz="2700" b="1" dirty="0"/>
            </a:br>
            <a:r>
              <a:rPr lang="en-US" sz="1200" dirty="0"/>
              <a:t>Handled missing values and removed duplicate records.</a:t>
            </a:r>
          </a:p>
          <a:p>
            <a:endParaRPr lang="en-US" sz="1200" dirty="0"/>
          </a:p>
          <a:p>
            <a:r>
              <a:rPr lang="en-US" sz="1200" dirty="0"/>
              <a:t>Converted Yes/No fields into 0/1 format.</a:t>
            </a:r>
          </a:p>
          <a:p>
            <a:endParaRPr lang="en-US" sz="1200" dirty="0"/>
          </a:p>
          <a:p>
            <a:r>
              <a:rPr lang="en-US" sz="1200" dirty="0"/>
              <a:t>Applied label encoding and one-hot encoding for categorical variables.</a:t>
            </a:r>
          </a:p>
          <a:p>
            <a:endParaRPr lang="en-US" sz="1200" dirty="0"/>
          </a:p>
          <a:p>
            <a:r>
              <a:rPr lang="en-US" sz="1200" dirty="0"/>
              <a:t>Standardized numeric columns such as MonthlyCharges and TotalCharges.</a:t>
            </a:r>
          </a:p>
          <a:p>
            <a:endParaRPr lang="en-US" sz="1200" dirty="0"/>
          </a:p>
          <a:p>
            <a:r>
              <a:rPr lang="en-US" sz="1200" dirty="0"/>
              <a:t>Created new features like Tenure Groups and Contract Type Simplified.</a:t>
            </a:r>
          </a:p>
          <a:p>
            <a:br>
              <a:rPr lang="en-IN" sz="1800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1200" dirty="0"/>
            </a:br>
            <a:endParaRPr lang="en-IN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B8B28E-B6C2-8FD4-11E8-8A1FA25F04DE}"/>
              </a:ext>
            </a:extLst>
          </p:cNvPr>
          <p:cNvSpPr txBox="1"/>
          <p:nvPr/>
        </p:nvSpPr>
        <p:spPr>
          <a:xfrm>
            <a:off x="457200" y="438150"/>
            <a:ext cx="4953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solidFill>
                  <a:schemeClr val="accent3"/>
                </a:solidFill>
                <a:latin typeface="Playfair Display"/>
              </a:rPr>
              <a:t>Project</a:t>
            </a:r>
            <a:r>
              <a:rPr lang="en-IN" sz="2800" u="sng" dirty="0"/>
              <a:t> </a:t>
            </a:r>
            <a:r>
              <a:rPr lang="en-IN" sz="2800" b="1" u="sng" dirty="0">
                <a:solidFill>
                  <a:schemeClr val="accent3"/>
                </a:solidFill>
                <a:latin typeface="Playfair Display"/>
              </a:rPr>
              <a:t>Development</a:t>
            </a:r>
            <a:r>
              <a:rPr lang="en-IN" sz="2800" u="sng" dirty="0"/>
              <a:t> </a:t>
            </a:r>
            <a:r>
              <a:rPr lang="en-IN" sz="2800" b="1" u="sng" dirty="0">
                <a:solidFill>
                  <a:schemeClr val="accent3"/>
                </a:solidFill>
                <a:latin typeface="Playfair Display"/>
              </a:rPr>
              <a:t>Phase</a:t>
            </a:r>
          </a:p>
        </p:txBody>
      </p:sp>
    </p:spTree>
    <p:extLst>
      <p:ext uri="{BB962C8B-B14F-4D97-AF65-F5344CB8AC3E}">
        <p14:creationId xmlns:p14="http://schemas.microsoft.com/office/powerpoint/2010/main" val="1608773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18ABF-C52A-235D-34A9-634FC2FD412A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457200" y="409087"/>
            <a:ext cx="6096000" cy="562464"/>
          </a:xfrm>
        </p:spPr>
        <p:txBody>
          <a:bodyPr/>
          <a:lstStyle/>
          <a:p>
            <a:r>
              <a:rPr lang="en-IN" sz="2800" b="1" dirty="0"/>
              <a:t>Exploratory Data Analysis (EDA)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40B6C-A8A6-A11F-A410-94F8731E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3E8-5869-47AC-8121-5897D6422D94}" type="slidenum">
              <a:rPr lang="en-IN" smtClean="0"/>
              <a:t>9</a:t>
            </a:fld>
            <a:endParaRPr lang="en-IN" dirty="0"/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67F9DAB9-3C83-04C4-11FF-68DB3B64B238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>
            <a:fillRect/>
          </a:stretch>
        </p:blipFill>
        <p:spPr/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9F78630-3C33-F50A-D8EF-5E0B91C95BDE}"/>
              </a:ext>
            </a:extLst>
          </p:cNvPr>
          <p:cNvSpPr txBox="1">
            <a:spLocks/>
          </p:cNvSpPr>
          <p:nvPr/>
        </p:nvSpPr>
        <p:spPr>
          <a:xfrm>
            <a:off x="1066800" y="1123950"/>
            <a:ext cx="7924800" cy="3733800"/>
          </a:xfrm>
          <a:prstGeom prst="rect">
            <a:avLst/>
          </a:prstGeom>
        </p:spPr>
        <p:txBody>
          <a:bodyPr vert="horz" lIns="0" tIns="0" rIns="0" bIns="0" rtlCol="0" anchor="b">
            <a:normAutofit fontScale="67500" lnSpcReduction="20000"/>
          </a:bodyPr>
          <a:lstStyle>
            <a:lvl1pPr lvl="0" algn="l" rtl="0">
              <a:lnSpc>
                <a:spcPct val="90000"/>
              </a:lnSpc>
              <a:spcBef>
                <a:spcPct val="0"/>
              </a:spcBef>
              <a:buNone/>
              <a:defRPr lang="en-US" sz="3200" b="0" dirty="0">
                <a:solidFill>
                  <a:schemeClr val="accent3"/>
                </a:solidFill>
                <a:latin typeface="Playfair Display"/>
              </a:defRPr>
            </a:lvl1pPr>
          </a:lstStyle>
          <a:p>
            <a:r>
              <a:rPr lang="en-US" sz="2700" b="1" dirty="0"/>
              <a:t>Highest Churn Segment:</a:t>
            </a:r>
          </a:p>
          <a:p>
            <a:br>
              <a:rPr lang="en-US" sz="1800" dirty="0"/>
            </a:br>
            <a:r>
              <a:rPr lang="en-US" sz="1800" dirty="0"/>
              <a:t>Customers with Month-to-Month contracts show the maximum churn rate.</a:t>
            </a:r>
          </a:p>
          <a:p>
            <a:br>
              <a:rPr lang="en-US" sz="1800" dirty="0"/>
            </a:br>
            <a:r>
              <a:rPr lang="en-US" sz="1800" b="1" dirty="0"/>
              <a:t>Interpretation</a:t>
            </a:r>
            <a:r>
              <a:rPr lang="en-US" sz="1800" b="1" i="1" dirty="0"/>
              <a:t>:</a:t>
            </a:r>
            <a:r>
              <a:rPr lang="en-US" sz="1800" b="1" dirty="0"/>
              <a:t> </a:t>
            </a:r>
            <a:r>
              <a:rPr lang="en-US" sz="1800" dirty="0"/>
              <a:t>These customers lack commitment and switch providers easily.</a:t>
            </a:r>
          </a:p>
          <a:p>
            <a:endParaRPr lang="en-US" sz="1200" dirty="0"/>
          </a:p>
          <a:p>
            <a:r>
              <a:rPr lang="en-US" sz="2700" b="1" dirty="0"/>
              <a:t>Monthly Charges vs Churn:</a:t>
            </a:r>
          </a:p>
          <a:p>
            <a:br>
              <a:rPr lang="en-US" sz="1200" dirty="0"/>
            </a:br>
            <a:r>
              <a:rPr lang="en-US" sz="1800" dirty="0"/>
              <a:t>Customers with higher monthly bills churn more.</a:t>
            </a:r>
          </a:p>
          <a:p>
            <a:br>
              <a:rPr lang="en-US" sz="1800" dirty="0"/>
            </a:br>
            <a:r>
              <a:rPr lang="en-US" sz="1800" b="1" dirty="0"/>
              <a:t>Interpretation</a:t>
            </a:r>
            <a:r>
              <a:rPr lang="en-US" sz="1800" b="1" i="1" dirty="0"/>
              <a:t>:</a:t>
            </a:r>
            <a:r>
              <a:rPr lang="en-US" sz="1800" b="1" dirty="0"/>
              <a:t> </a:t>
            </a:r>
            <a:r>
              <a:rPr lang="en-US" sz="1800" dirty="0"/>
              <a:t>High cost is a major reason for dissatisfaction.</a:t>
            </a:r>
          </a:p>
          <a:p>
            <a:endParaRPr lang="en-US" sz="2100" dirty="0"/>
          </a:p>
          <a:p>
            <a:r>
              <a:rPr lang="en-US" sz="2700" b="1" dirty="0"/>
              <a:t>Tenure vs Churn:</a:t>
            </a:r>
          </a:p>
          <a:p>
            <a:br>
              <a:rPr lang="en-US" sz="1200" dirty="0"/>
            </a:br>
            <a:r>
              <a:rPr lang="en-US" sz="1800" dirty="0"/>
              <a:t>Low-tenure customers (0–12 months) churn the most</a:t>
            </a:r>
          </a:p>
          <a:p>
            <a:r>
              <a:rPr lang="en-US" sz="1800" dirty="0"/>
              <a:t>.</a:t>
            </a:r>
            <a:br>
              <a:rPr lang="en-US" sz="1800" dirty="0"/>
            </a:br>
            <a:r>
              <a:rPr lang="en-US" sz="1800" b="1" dirty="0"/>
              <a:t>Interpretation</a:t>
            </a:r>
            <a:r>
              <a:rPr lang="en-US" sz="1800" b="1" i="1" dirty="0"/>
              <a:t>:</a:t>
            </a:r>
            <a:r>
              <a:rPr lang="en-US" sz="1800" b="1" dirty="0"/>
              <a:t> </a:t>
            </a:r>
            <a:r>
              <a:rPr lang="en-US" sz="1800" dirty="0"/>
              <a:t>New customers leave early if expectations are not met.</a:t>
            </a:r>
          </a:p>
          <a:p>
            <a:endParaRPr lang="en-US" sz="2700" dirty="0"/>
          </a:p>
          <a:p>
            <a:r>
              <a:rPr lang="en-US" sz="2700" b="1" dirty="0"/>
              <a:t>Internet Service Impact:</a:t>
            </a:r>
          </a:p>
          <a:p>
            <a:br>
              <a:rPr lang="en-US" sz="1800" dirty="0"/>
            </a:br>
            <a:r>
              <a:rPr lang="en-US" sz="1800" dirty="0"/>
              <a:t>Fiber Optic users show higher churn than DSL users.</a:t>
            </a:r>
          </a:p>
          <a:p>
            <a:br>
              <a:rPr lang="en-US" sz="1800" dirty="0"/>
            </a:br>
            <a:r>
              <a:rPr lang="en-US" sz="1800" b="1" dirty="0"/>
              <a:t>Interpretation</a:t>
            </a:r>
            <a:r>
              <a:rPr lang="en-US" sz="1800" b="1" i="1" dirty="0"/>
              <a:t>:</a:t>
            </a:r>
            <a:r>
              <a:rPr lang="en-US" sz="1800" b="1" dirty="0"/>
              <a:t> </a:t>
            </a:r>
            <a:r>
              <a:rPr lang="en-US" sz="1800" dirty="0"/>
              <a:t>Possible issues with service quality or pricing.</a:t>
            </a:r>
          </a:p>
          <a:p>
            <a:br>
              <a:rPr lang="en-IN" sz="1800" dirty="0"/>
            </a:br>
            <a:br>
              <a:rPr lang="en-IN" sz="1200" dirty="0"/>
            </a:br>
            <a:br>
              <a:rPr lang="en-IN" sz="1200" dirty="0"/>
            </a:br>
            <a:br>
              <a:rPr lang="en-IN" sz="1200" dirty="0"/>
            </a:b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468073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98686DC-0144-D7E6-9E22-DD4C719A41EA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533400" y="438150"/>
            <a:ext cx="2888327" cy="486264"/>
          </a:xfrm>
        </p:spPr>
        <p:txBody>
          <a:bodyPr/>
          <a:lstStyle/>
          <a:p>
            <a:r>
              <a:rPr lang="en-IN" b="1" dirty="0"/>
              <a:t>Show Insights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17218-A82C-9CB3-7A25-7C7703A609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9D3E8-5869-47AC-8121-5897D6422D94}" type="slidenum">
              <a:rPr lang="en-IN" smtClean="0"/>
              <a:t>10</a:t>
            </a:fld>
            <a:endParaRPr lang="en-IN" dirty="0"/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901AFF22-756A-CB78-020C-F042D0EBBD5B}"/>
              </a:ext>
            </a:extLst>
          </p:cNvPr>
          <p:cNvPicPr>
            <a:picLocks noGrp="1" noChangeAspect="1"/>
          </p:cNvPicPr>
          <p:nvPr>
            <p:ph type="pic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93" r="31893"/>
          <a:stretch>
            <a:fillRect/>
          </a:stretch>
        </p:blipFill>
        <p:spPr>
          <a:xfrm>
            <a:off x="457200" y="1200150"/>
            <a:ext cx="2590800" cy="2590800"/>
          </a:xfr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C5C75CA-AF68-3CC4-1999-17549827E19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762000" y="3943350"/>
            <a:ext cx="2209800" cy="343780"/>
          </a:xfrm>
        </p:spPr>
        <p:txBody>
          <a:bodyPr/>
          <a:lstStyle/>
          <a:p>
            <a:r>
              <a:rPr lang="en-US" sz="1400" b="1" dirty="0"/>
              <a:t>Monthly Charges vs Churn</a:t>
            </a:r>
            <a:endParaRPr lang="en-IN" sz="1400" dirty="0"/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35FDA8F5-5755-4496-4095-2AFC71FC9AE6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5" b="2865"/>
          <a:stretch/>
        </p:blipFill>
        <p:spPr>
          <a:xfrm>
            <a:off x="3048000" y="1200150"/>
            <a:ext cx="2819400" cy="2590800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5E447F0-1206-8F37-F4F0-39A6EDCABB3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733800" y="3943350"/>
            <a:ext cx="1851871" cy="343780"/>
          </a:xfrm>
        </p:spPr>
        <p:txBody>
          <a:bodyPr/>
          <a:lstStyle/>
          <a:p>
            <a:r>
              <a:rPr lang="en-US" sz="1600" b="1" dirty="0"/>
              <a:t>Tenure vs Churn</a:t>
            </a:r>
            <a:endParaRPr lang="en-IN" sz="1600" dirty="0"/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37494AEB-F96A-A361-9F56-9D0CE478A8F4}"/>
              </a:ext>
            </a:extLst>
          </p:cNvPr>
          <p:cNvPicPr>
            <a:picLocks noGrp="1" noChangeAspect="1"/>
          </p:cNvPicPr>
          <p:nvPr>
            <p:ph type="pic" idx="18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73" r="14973"/>
          <a:stretch/>
        </p:blipFill>
        <p:spPr>
          <a:xfrm>
            <a:off x="5943600" y="1200150"/>
            <a:ext cx="3124200" cy="2590800"/>
          </a:xfr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6714555-AFC9-3234-83CF-180F51FB23DE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248400" y="3943350"/>
            <a:ext cx="2461471" cy="343780"/>
          </a:xfrm>
        </p:spPr>
        <p:txBody>
          <a:bodyPr/>
          <a:lstStyle/>
          <a:p>
            <a:r>
              <a:rPr lang="en-US" sz="1600" b="1" dirty="0"/>
              <a:t>Internet Service Impact</a:t>
            </a:r>
            <a:endParaRPr lang="en-US" b="1" dirty="0"/>
          </a:p>
          <a:p>
            <a:endParaRPr lang="en-IN" sz="1100" dirty="0"/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1FA06FE0-58EE-04D0-5382-73738DD49AC4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80978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3708A-D90E-7B90-BD08-C7B8245E6CC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85801" y="409087"/>
            <a:ext cx="4495800" cy="486264"/>
          </a:xfrm>
        </p:spPr>
        <p:txBody>
          <a:bodyPr/>
          <a:lstStyle/>
          <a:p>
            <a:r>
              <a:rPr lang="en-IN" b="1" dirty="0"/>
              <a:t>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BEC95-87D2-7101-BADD-F8A65A9A876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14400" y="971550"/>
            <a:ext cx="7612728" cy="39624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b="1" dirty="0"/>
              <a:t>Train</a:t>
            </a:r>
            <a:r>
              <a:rPr lang="en-IN" b="1" u="sng" dirty="0"/>
              <a:t>–</a:t>
            </a:r>
            <a:r>
              <a:rPr lang="en-IN" b="1" dirty="0"/>
              <a:t>Test</a:t>
            </a:r>
            <a:r>
              <a:rPr lang="en-IN" b="1" u="sng" dirty="0"/>
              <a:t> </a:t>
            </a:r>
            <a:r>
              <a:rPr lang="en-IN" b="1" dirty="0"/>
              <a:t>Split</a:t>
            </a:r>
            <a:r>
              <a:rPr lang="en-IN" b="1" u="sng" dirty="0"/>
              <a:t>:  </a:t>
            </a:r>
            <a:r>
              <a:rPr lang="en-US" dirty="0"/>
              <a:t>Dataset split into 80% Training and 20% Testing to ensure balanced learning and evaluation.</a:t>
            </a:r>
          </a:p>
          <a:p>
            <a:pPr>
              <a:lnSpc>
                <a:spcPct val="100000"/>
              </a:lnSpc>
            </a:pPr>
            <a:r>
              <a:rPr lang="en-IN" b="1" dirty="0"/>
              <a:t>Algorithms</a:t>
            </a:r>
            <a:r>
              <a:rPr lang="en-IN" b="1" u="sng" dirty="0"/>
              <a:t> </a:t>
            </a:r>
            <a:r>
              <a:rPr lang="en-IN" b="1" dirty="0"/>
              <a:t>Used</a:t>
            </a:r>
            <a:r>
              <a:rPr lang="en-IN" b="1" u="sng" dirty="0"/>
              <a:t> </a:t>
            </a:r>
            <a:r>
              <a:rPr lang="en-IN" b="1" dirty="0"/>
              <a:t>:  </a:t>
            </a:r>
            <a:r>
              <a:rPr lang="en-IN" dirty="0"/>
              <a:t>Logistic Regression, Decision Tree ,Random Forest , Gradient Boosting.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Why These Models Were Chosen ?</a:t>
            </a:r>
          </a:p>
          <a:p>
            <a:pPr>
              <a:lnSpc>
                <a:spcPct val="100000"/>
              </a:lnSpc>
            </a:pPr>
            <a:r>
              <a:rPr lang="en-IN" b="1" dirty="0"/>
              <a:t>Logistic Regression</a:t>
            </a:r>
            <a:r>
              <a:rPr lang="en-IN" dirty="0"/>
              <a:t> –</a:t>
            </a:r>
            <a:br>
              <a:rPr lang="en-IN" dirty="0"/>
            </a:br>
            <a:r>
              <a:rPr lang="en-IN" dirty="0"/>
              <a:t>Provides a simple, interpretable baseline for binary classification.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Decision Tree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Captures non-linear patterns and is easy to visualize and understand.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Random Forest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Reduces overfitting, improves accuracy, and handles mixed data types effectively.</a:t>
            </a:r>
            <a:endParaRPr lang="en-IN" b="1" dirty="0"/>
          </a:p>
          <a:p>
            <a:r>
              <a:rPr lang="en-US" b="1" dirty="0"/>
              <a:t>Gradient Boosting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Offers high predictive performance by sequentially improving weak learners.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FD282-9F5E-3635-19A8-3213C6E75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3E8-5869-47AC-8121-5897D6422D94}" type="slidenum">
              <a:rPr lang="en-IN" smtClean="0"/>
              <a:t>11</a:t>
            </a:fld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28A7985D-146E-A86E-4BA6-1A7872B10430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97642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4E63-9451-14B3-4270-908D0C6F4F3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457200" y="57150"/>
            <a:ext cx="3345527" cy="858929"/>
          </a:xfrm>
        </p:spPr>
        <p:txBody>
          <a:bodyPr/>
          <a:lstStyle/>
          <a:p>
            <a:r>
              <a:rPr lang="en-IN" b="1" dirty="0"/>
              <a:t>Model Evaluation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4B198-9DAD-E1DB-4EAD-F5341BD1118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62000" y="1200150"/>
            <a:ext cx="3886200" cy="2834630"/>
          </a:xfrm>
        </p:spPr>
        <p:txBody>
          <a:bodyPr/>
          <a:lstStyle/>
          <a:p>
            <a:r>
              <a:rPr lang="en-US" b="1" dirty="0"/>
              <a:t>Performance Metrics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Accuracy</a:t>
            </a:r>
            <a:r>
              <a:rPr lang="en-US" dirty="0"/>
              <a:t>- </a:t>
            </a:r>
            <a:r>
              <a:rPr lang="en-IN" dirty="0"/>
              <a:t>Overall correctness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Precision- </a:t>
            </a:r>
            <a:r>
              <a:rPr lang="en-IN" dirty="0"/>
              <a:t>Correct churn predictions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Recall-</a:t>
            </a:r>
            <a:r>
              <a:rPr lang="en-US" dirty="0"/>
              <a:t>Ability to detect actual churners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F1 - </a:t>
            </a:r>
            <a:r>
              <a:rPr lang="en-US" dirty="0"/>
              <a:t>Balance of Precision and Recall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AUC - </a:t>
            </a:r>
            <a:r>
              <a:rPr lang="en-US" dirty="0"/>
              <a:t>Ability to separate churn vs non-churn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B3592-8BC5-F36F-C8C6-4034DDC60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3E8-5869-47AC-8121-5897D6422D94}" type="slidenum">
              <a:rPr lang="en-IN" smtClean="0"/>
              <a:t>12</a:t>
            </a:fld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E9E74F5-47DD-AB36-DB01-FF97D377B846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3000" y="1200150"/>
            <a:ext cx="3657600" cy="2475332"/>
          </a:xfrm>
        </p:spPr>
      </p:pic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D64FD4B7-4A07-B4B5-6B9B-57760F4D3D8F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78889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D1EB0-2374-D14F-1865-6D5CFCEB875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1672" y="666750"/>
            <a:ext cx="7765128" cy="3818260"/>
          </a:xfrm>
        </p:spPr>
        <p:txBody>
          <a:bodyPr/>
          <a:lstStyle/>
          <a:p>
            <a:r>
              <a:rPr lang="en-US" sz="2000" b="1" dirty="0">
                <a:latin typeface="Playfair Display" panose="00000500000000000000" pitchFamily="2" charset="0"/>
              </a:rPr>
              <a:t>Best Model Selected:  </a:t>
            </a:r>
            <a:r>
              <a:rPr lang="en-US" dirty="0"/>
              <a:t>Gradient Boosting</a:t>
            </a:r>
          </a:p>
          <a:p>
            <a:r>
              <a:rPr lang="en-IN" sz="1800" b="1" dirty="0">
                <a:latin typeface="Playfair Display" panose="00000500000000000000" pitchFamily="2" charset="0"/>
              </a:rPr>
              <a:t>Justification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Achieved the highest Accuracy, Precision, Recall</a:t>
            </a:r>
            <a:r>
              <a:rPr lang="en-US" b="1" dirty="0"/>
              <a:t>, </a:t>
            </a:r>
            <a:r>
              <a:rPr lang="en-US" dirty="0"/>
              <a:t>F1-Score, and AUC among all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at detecting churn customers (highest recall).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Handles complex, non-linear patterns effectively.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Produces stable and reliable predictions, suitable for business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37A41-50D2-CAE5-1414-59FDECF1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3E8-5869-47AC-8121-5897D6422D94}" type="slidenum">
              <a:rPr lang="en-IN" smtClean="0"/>
              <a:t>13</a:t>
            </a:fld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AC15B26C-B801-FC79-ED44-BD126E76954F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0837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BD90E-59DA-4914-3856-14DBEDB3973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590550"/>
            <a:ext cx="4267200" cy="3894460"/>
          </a:xfrm>
        </p:spPr>
        <p:txBody>
          <a:bodyPr/>
          <a:lstStyle/>
          <a:p>
            <a:r>
              <a:rPr lang="en-IN" sz="2000" b="1" dirty="0">
                <a:latin typeface="Playfair Display" panose="00000500000000000000" pitchFamily="2" charset="0"/>
              </a:rPr>
              <a:t>Final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Contract Type, Monthly Charges, and Tenure strongly influence churn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Month-to-Month customers churn the most.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High-billing customers show higher churn probability.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Fiber Optic users have higher churn rates than DSL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Low-tenure customers leave early due to dissatisfaction or poor onboarding.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38382-719F-C3AC-6532-0D6D561D1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3E8-5869-47AC-8121-5897D6422D94}" type="slidenum">
              <a:rPr lang="en-IN" smtClean="0"/>
              <a:t>14</a:t>
            </a:fld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4C6238-9B6F-5ED2-79D7-A220C5D8A57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105400" y="514350"/>
            <a:ext cx="3409948" cy="3970660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latin typeface="Playfair Display" panose="00000500000000000000" pitchFamily="2" charset="0"/>
              </a:rPr>
              <a:t>Recommendations </a:t>
            </a:r>
          </a:p>
          <a:p>
            <a:r>
              <a:rPr lang="en-US" sz="1400" dirty="0"/>
              <a:t>Promote long-term contracts with discounts.</a:t>
            </a:r>
          </a:p>
          <a:p>
            <a:r>
              <a:rPr lang="en-US" sz="1400" dirty="0"/>
              <a:t>Reduce billing stress using flexible payment plans</a:t>
            </a:r>
          </a:p>
          <a:p>
            <a:r>
              <a:rPr lang="en-US" sz="1400" dirty="0"/>
              <a:t>Improve customer support for Fiber Optic users.</a:t>
            </a:r>
          </a:p>
          <a:p>
            <a:r>
              <a:rPr lang="en-US" sz="1400" dirty="0"/>
              <a:t>Introduce early-engagement campaigns for new customers.</a:t>
            </a:r>
          </a:p>
          <a:p>
            <a:r>
              <a:rPr lang="en-US" sz="1400" dirty="0"/>
              <a:t>Use the ML model to predict churn early and trigger retention actions.</a:t>
            </a:r>
            <a:endParaRPr lang="en-IN" sz="1400" b="1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9074DB83-EE6E-8DA3-047E-280810ECEB97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12855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31C5A-E217-E33F-4918-1699770B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3E8-5869-47AC-8121-5897D6422D94}" type="slidenum">
              <a:rPr lang="en-IN" smtClean="0"/>
              <a:t>15</a:t>
            </a:fld>
            <a:endParaRPr lang="en-IN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8B127077-F55C-6696-0105-E0E0D7B451E2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>
            <a:fillRect/>
          </a:stretch>
        </p:blipFill>
        <p:spPr/>
      </p:pic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076AC10C-3B2C-2C4F-4F57-30F4B3AC118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2338" y="590549"/>
            <a:ext cx="2354262" cy="677863"/>
          </a:xfrm>
        </p:spPr>
        <p:txBody>
          <a:bodyPr/>
          <a:lstStyle/>
          <a:p>
            <a:r>
              <a:rPr lang="en-IN" b="1" dirty="0"/>
              <a:t>References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2092E7F-3A3E-F1F6-A8DB-0E14339FF3B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828800" y="1352550"/>
            <a:ext cx="4572000" cy="24384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Telecom Customer Churn dataset was provided by HEProAI for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Python Libraries: Pandas, NumPy, Scikit-Learn, Matplotlib, Seaborn.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Research papers on customer churn prediction and retention models.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074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BBBF6-446F-1A42-0BF9-550096DDE534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921673" y="409087"/>
            <a:ext cx="7593676" cy="562464"/>
          </a:xfrm>
        </p:spPr>
        <p:txBody>
          <a:bodyPr/>
          <a:lstStyle/>
          <a:p>
            <a:r>
              <a:rPr lang="en-IN" b="1" dirty="0"/>
              <a:t>Project 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D845E-D120-E014-4CDF-DC255F0998A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14400" y="1123950"/>
            <a:ext cx="7848600" cy="33610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 successfully identified the key drivers behind customer churn.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Gradient Boosting emerged as the best-performing model based on all evaluation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Insights from the analysis highlight the importance of contract type, tenure, and monthly charges in churn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can help the business predict churn early and take proactive retention measures.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Overall, the project provides a data-driven foundation for reducing churn and improving customer retention strategies.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5F899-F63E-89D2-FC45-CE4F6D09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3E8-5869-47AC-8121-5897D6422D94}" type="slidenum">
              <a:rPr lang="en-IN" smtClean="0"/>
              <a:t>16</a:t>
            </a:fld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66EC54A-A6CC-A577-6365-E52F78999680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>
            <a:fillRect/>
          </a:stretch>
        </p:blipFill>
        <p:spPr/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4D8B52D-596C-698D-7B87-FAAC03CB7BB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105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648C2-38AF-5A3D-84E5-63C891C8FB95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533400" y="361950"/>
            <a:ext cx="4800600" cy="457200"/>
          </a:xfrm>
        </p:spPr>
        <p:txBody>
          <a:bodyPr/>
          <a:lstStyle/>
          <a:p>
            <a:r>
              <a:rPr lang="en-IN" sz="2800" b="1" dirty="0"/>
              <a:t>Challenges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62A4A-7BED-BC0C-7A21-F022C54B2F7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85800" y="819150"/>
            <a:ext cx="8222328" cy="3962400"/>
          </a:xfrm>
        </p:spPr>
        <p:txBody>
          <a:bodyPr numCol="2"/>
          <a:lstStyle/>
          <a:p>
            <a:r>
              <a:rPr lang="en-IN" sz="1600" b="1" dirty="0"/>
              <a:t>Data Quality Issues </a:t>
            </a:r>
            <a:r>
              <a:rPr lang="en-IN" b="1" dirty="0"/>
              <a:t>: </a:t>
            </a:r>
            <a:r>
              <a:rPr lang="en-US" dirty="0"/>
              <a:t>Missing values, inconsistent entries, and non-numeric fields.</a:t>
            </a:r>
          </a:p>
          <a:p>
            <a:pPr>
              <a:lnSpc>
                <a:spcPct val="100000"/>
              </a:lnSpc>
            </a:pPr>
            <a:r>
              <a:rPr lang="en-IN" b="1" dirty="0"/>
              <a:t>Solution:  </a:t>
            </a:r>
            <a:r>
              <a:rPr lang="en-US" dirty="0"/>
              <a:t>Cleaned the dataset, handled missing values, converted TotalCharges to numeric, and performed encoding.</a:t>
            </a:r>
          </a:p>
          <a:p>
            <a:pPr>
              <a:lnSpc>
                <a:spcPct val="100000"/>
              </a:lnSpc>
            </a:pPr>
            <a:r>
              <a:rPr lang="en-IN" b="1" dirty="0"/>
              <a:t>Imbalanced Target (Churn) : </a:t>
            </a:r>
            <a:r>
              <a:rPr lang="en-US" dirty="0"/>
              <a:t>Churn cases were fewer than non-churn, affecting model learning.</a:t>
            </a:r>
          </a:p>
          <a:p>
            <a:pPr>
              <a:lnSpc>
                <a:spcPct val="100000"/>
              </a:lnSpc>
            </a:pPr>
            <a:r>
              <a:rPr lang="en-IN" b="1" dirty="0"/>
              <a:t>Solution: </a:t>
            </a:r>
            <a:r>
              <a:rPr lang="en-US" dirty="0"/>
              <a:t>Used proper evaluation metrics (Precision, Recall, F1, AUC) and applied model tuning to improve performance.</a:t>
            </a:r>
          </a:p>
          <a:p>
            <a:pPr>
              <a:lnSpc>
                <a:spcPct val="100000"/>
              </a:lnSpc>
            </a:pPr>
            <a:r>
              <a:rPr lang="en-IN" b="1" dirty="0"/>
              <a:t>Selecting the Best Model : </a:t>
            </a:r>
            <a:r>
              <a:rPr lang="en-US" dirty="0"/>
              <a:t>Different models performed differently across metrics.</a:t>
            </a:r>
          </a:p>
          <a:p>
            <a:pPr>
              <a:lnSpc>
                <a:spcPct val="100000"/>
              </a:lnSpc>
            </a:pPr>
            <a:r>
              <a:rPr lang="en-IN" b="1" dirty="0"/>
              <a:t>Solution: </a:t>
            </a:r>
            <a:r>
              <a:rPr lang="en-US" dirty="0"/>
              <a:t>Compared Accuracy, Precision, Recall, F1, and AUC → Selected Gradient Boosting as the best performer.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Understanding Key Drivers of Churn : </a:t>
            </a:r>
            <a:r>
              <a:rPr lang="en-US" dirty="0"/>
              <a:t>Many correlated variables made interpretation difficult.</a:t>
            </a:r>
            <a:endParaRPr lang="en-US" b="1" dirty="0"/>
          </a:p>
          <a:p>
            <a:pPr>
              <a:lnSpc>
                <a:spcPct val="100000"/>
              </a:lnSpc>
            </a:pPr>
            <a:r>
              <a:rPr lang="en-IN" b="1" dirty="0"/>
              <a:t>Solution: </a:t>
            </a:r>
            <a:r>
              <a:rPr lang="en-US" dirty="0"/>
              <a:t>Used feature importance from ML models and EDA insights to identify top churn factors.</a:t>
            </a:r>
            <a:endParaRPr lang="en-US" b="1" dirty="0"/>
          </a:p>
          <a:p>
            <a:pPr>
              <a:lnSpc>
                <a:spcPct val="100000"/>
              </a:lnSpc>
            </a:pP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BEAEE-33CD-7EE2-F662-9725E30A8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3E8-5869-47AC-8121-5897D6422D94}" type="slidenum">
              <a:rPr lang="en-IN" smtClean="0"/>
              <a:t>17</a:t>
            </a:fld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E0A4D01-F6E0-FACA-E287-42BC8C27103F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53" b="18653"/>
          <a:stretch>
            <a:fillRect/>
          </a:stretch>
        </p:blipFill>
        <p:spPr>
          <a:xfrm>
            <a:off x="6610350" y="4705350"/>
            <a:ext cx="1905000" cy="371475"/>
          </a:xfrm>
        </p:spPr>
      </p:pic>
    </p:spTree>
    <p:extLst>
      <p:ext uri="{BB962C8B-B14F-4D97-AF65-F5344CB8AC3E}">
        <p14:creationId xmlns:p14="http://schemas.microsoft.com/office/powerpoint/2010/main" val="1881077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B264E-D1C7-086C-86F1-690CDCC1CCC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62000" y="1047750"/>
            <a:ext cx="8153400" cy="3810000"/>
          </a:xfrm>
        </p:spPr>
        <p:txBody>
          <a:bodyPr numCol="2"/>
          <a:lstStyle/>
          <a:p>
            <a:pPr>
              <a:lnSpc>
                <a:spcPct val="100000"/>
              </a:lnSpc>
            </a:pPr>
            <a:r>
              <a:rPr lang="en-US" b="1" dirty="0"/>
              <a:t>1. Improved Data Handling Skills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Learned to clean, preprocess, encode, and transform real-world datasets effectively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2. Strong Understanding of EDA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Gained experience in uncovering patterns, trends, and churn drivers using visualizations and statistics.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3. Hands-on Machine Learning Experience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Learned how to build, compare, and tune ML models such as Logistic Regression, Decision Tree, Random Forest, and Gradient Boosting.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4. Model Evaluation Expertise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Understood the importance of metrics like Accuracy, Precision, Recall, F1 Score, and ROC-AUC for classification tasks.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5. Ability to Draw Business Insights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Translated data findings into actionable recommendations for reducing churn and improving customer retention.</a:t>
            </a:r>
          </a:p>
          <a:p>
            <a:r>
              <a:rPr lang="en-US" sz="1200" b="1" dirty="0"/>
              <a:t>6. Enhanced Problem-Solving Skills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Developed solutions to challenges related to data quality, model selection, and interpretation.</a:t>
            </a:r>
          </a:p>
          <a:p>
            <a:pPr>
              <a:lnSpc>
                <a:spcPct val="100000"/>
              </a:lnSpc>
            </a:pPr>
            <a:endParaRPr lang="en-US" sz="1200" dirty="0"/>
          </a:p>
          <a:p>
            <a:pPr>
              <a:lnSpc>
                <a:spcPct val="100000"/>
              </a:lnSpc>
            </a:pPr>
            <a:endParaRPr lang="en-US" sz="1200" dirty="0"/>
          </a:p>
          <a:p>
            <a:endParaRPr lang="en-US" dirty="0"/>
          </a:p>
          <a:p>
            <a:pPr>
              <a:lnSpc>
                <a:spcPct val="100000"/>
              </a:lnSpc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EDBDA-7541-4EA0-6CF5-70355C49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3E8-5869-47AC-8121-5897D6422D94}" type="slidenum">
              <a:rPr lang="en-IN" smtClean="0"/>
              <a:t>18</a:t>
            </a:fld>
            <a:endParaRPr lang="en-IN"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D55435CD-23D5-6936-57B3-EB80C405A12D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53" b="18653"/>
          <a:stretch>
            <a:fillRect/>
          </a:stretch>
        </p:blipFill>
        <p:spPr>
          <a:xfrm>
            <a:off x="6610350" y="4705350"/>
            <a:ext cx="1905000" cy="371475"/>
          </a:xfr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16365CB-2577-03EE-316E-B17BFA39A368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533400" y="285750"/>
            <a:ext cx="5715000" cy="609600"/>
          </a:xfrm>
        </p:spPr>
        <p:txBody>
          <a:bodyPr/>
          <a:lstStyle/>
          <a:p>
            <a:r>
              <a:rPr lang="en-IN" b="1" dirty="0"/>
              <a:t>Learnings and Key Takeaways</a:t>
            </a:r>
          </a:p>
        </p:txBody>
      </p:sp>
    </p:spTree>
    <p:extLst>
      <p:ext uri="{BB962C8B-B14F-4D97-AF65-F5344CB8AC3E}">
        <p14:creationId xmlns:p14="http://schemas.microsoft.com/office/powerpoint/2010/main" val="2071755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DD53D-8722-F938-D429-9703F2C0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3E8-5869-47AC-8121-5897D6422D94}" type="slidenum">
              <a:rPr lang="en-IN" smtClean="0"/>
              <a:t>19</a:t>
            </a:fld>
            <a:endParaRPr lang="en-IN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D8F941FD-579D-3738-2BB9-3FE6A9367033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2" b="9812"/>
          <a:stretch>
            <a:fillRect/>
          </a:stretch>
        </p:blipFill>
        <p:spPr/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3AE0DE7-8462-8F87-0022-9A3EAA0105BD}"/>
              </a:ext>
              <a:ext uri="{B2EBDB5D-E65B-48F5-94BA-98AF50D292F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1FF7C77-63B3-400F-BC8F-F90C2E96FA9A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2971800" y="1885950"/>
            <a:ext cx="2743200" cy="685800"/>
          </a:xfrm>
        </p:spPr>
        <p:txBody>
          <a:bodyPr rtlCol="0"/>
          <a:lstStyle/>
          <a:p>
            <a:r>
              <a:rPr lang="en-US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758980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FONT2" val="Montserrat-ligh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WEIGHT:1:0:0" val="2"/>
  <p:tag name="FONTWEIGHT:1:1:0" val="2"/>
  <p:tag name="FONTWEIGHT:1:4:0" val="2"/>
  <p:tag name="FONTWEIGHT:1:2:0" val="2"/>
  <p:tag name="FONTWEIGHT:1:3:0" val="2"/>
</p:tagLst>
</file>

<file path=ppt/theme/theme1.xml><?xml version="1.0" encoding="utf-8"?>
<a:theme xmlns:a="http://schemas.openxmlformats.org/drawingml/2006/main" name="Office Theme">
  <a:themeElements>
    <a:clrScheme name="Custom 56">
      <a:dk1>
        <a:srgbClr val="000000"/>
      </a:dk1>
      <a:lt1>
        <a:srgbClr val="FFFFFF"/>
      </a:lt1>
      <a:dk2>
        <a:srgbClr val="1F4CB2"/>
      </a:dk2>
      <a:lt2>
        <a:srgbClr val="E7E6E6"/>
      </a:lt2>
      <a:accent1>
        <a:srgbClr val="D87227"/>
      </a:accent1>
      <a:accent2>
        <a:srgbClr val="B1B1B1"/>
      </a:accent2>
      <a:accent3>
        <a:srgbClr val="1F4CB2"/>
      </a:accent3>
      <a:accent4>
        <a:srgbClr val="00C4D6"/>
      </a:accent4>
      <a:accent5>
        <a:srgbClr val="F6C300"/>
      </a:accent5>
      <a:accent6>
        <a:srgbClr val="F8F8F8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lvl1pPr lvl="0" algn="ctr"/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ustom 56">
      <a:dk1>
        <a:srgbClr val="000000"/>
      </a:dk1>
      <a:lt1>
        <a:srgbClr val="FFFFFF"/>
      </a:lt1>
      <a:dk2>
        <a:srgbClr val="1F4CB2"/>
      </a:dk2>
      <a:lt2>
        <a:srgbClr val="E7E6E6"/>
      </a:lt2>
      <a:accent1>
        <a:srgbClr val="D87227"/>
      </a:accent1>
      <a:accent2>
        <a:srgbClr val="B1B1B1"/>
      </a:accent2>
      <a:accent3>
        <a:srgbClr val="1F4CB2"/>
      </a:accent3>
      <a:accent4>
        <a:srgbClr val="00C4D6"/>
      </a:accent4>
      <a:accent5>
        <a:srgbClr val="F6C300"/>
      </a:accent5>
      <a:accent6>
        <a:srgbClr val="F8F8F8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lvl1pPr lvl="0" algn="ctr"/>
      </a:lstStyle>
    </a:spDef>
  </a:objectDefaults>
  <a:extraClrSchemeLst/>
</a:theme>
</file>

<file path=ppt/theme/themeOverride1.xml><?xml version="1.0" encoding="utf-8"?>
<a:themeOverride xmlns:a="http://schemas.openxmlformats.org/drawingml/2006/main">
  <a:clrScheme name="Custom 56">
    <a:dk1>
      <a:srgbClr val="000000"/>
    </a:dk1>
    <a:lt1>
      <a:srgbClr val="FFFFFF"/>
    </a:lt1>
    <a:dk2>
      <a:srgbClr val="1F4CB2"/>
    </a:dk2>
    <a:lt2>
      <a:srgbClr val="E7E6E6"/>
    </a:lt2>
    <a:accent1>
      <a:srgbClr val="D87227"/>
    </a:accent1>
    <a:accent2>
      <a:srgbClr val="B1B1B1"/>
    </a:accent2>
    <a:accent3>
      <a:srgbClr val="1F4CB2"/>
    </a:accent3>
    <a:accent4>
      <a:srgbClr val="00C4D6"/>
    </a:accent4>
    <a:accent5>
      <a:srgbClr val="F6C300"/>
    </a:accent5>
    <a:accent6>
      <a:srgbClr val="F8F8F8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1640</TotalTime>
  <Words>1539</Words>
  <Application>Microsoft Office PowerPoint</Application>
  <PresentationFormat>On-screen Show (16:9)</PresentationFormat>
  <Paragraphs>177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Playfair Display</vt:lpstr>
      <vt:lpstr>Wingdings</vt:lpstr>
      <vt:lpstr>Calibri</vt:lpstr>
      <vt:lpstr>Montserrat-light</vt:lpstr>
      <vt:lpstr>Arial</vt:lpstr>
      <vt:lpstr>Montserrat Light</vt:lpstr>
      <vt:lpstr>Office Theme</vt:lpstr>
      <vt:lpstr>Customer Churn Prediction Analysis  HEPro -Business Analytics Internship Duration – 2 Month (November- December 2025)</vt:lpstr>
      <vt:lpstr>Table of Contents</vt:lpstr>
      <vt:lpstr>Executive Summary</vt:lpstr>
      <vt:lpstr>Introduction</vt:lpstr>
      <vt:lpstr>Project Goals and Objectives</vt:lpstr>
      <vt:lpstr>Daily Work Log</vt:lpstr>
      <vt:lpstr>  Dataset Description  Telecom customer dataset with demographic, service usage, and billing details.  Key features include:   tenure, contract type, internet service, payment method, charges, dependents, senior citizen.  Target variable: Churn (Yes/No).    </vt:lpstr>
      <vt:lpstr> </vt:lpstr>
      <vt:lpstr>Exploratory Data Analysis (EDA)</vt:lpstr>
      <vt:lpstr>Show Insights</vt:lpstr>
      <vt:lpstr>Model Development</vt:lpstr>
      <vt:lpstr>Model Evaluation </vt:lpstr>
      <vt:lpstr>PowerPoint Presentation</vt:lpstr>
      <vt:lpstr>PowerPoint Presentation</vt:lpstr>
      <vt:lpstr>References</vt:lpstr>
      <vt:lpstr>Project Conclusion</vt:lpstr>
      <vt:lpstr>Challenges and Solutions</vt:lpstr>
      <vt:lpstr>Learnings and Key Takeaways</vt:lpstr>
      <vt:lpstr>Thank You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Jishu Paul</dc:creator>
  <cp:lastModifiedBy>Jishu Paul</cp:lastModifiedBy>
  <cp:revision>27</cp:revision>
  <dcterms:created xsi:type="dcterms:W3CDTF">2025-06-15T19:53:03Z</dcterms:created>
  <dcterms:modified xsi:type="dcterms:W3CDTF">2025-12-05T14:30:55Z</dcterms:modified>
</cp:coreProperties>
</file>